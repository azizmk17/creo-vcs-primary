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54a2d567d4858" /><Relationship Type="http://schemas.openxmlformats.org/officeDocument/2006/relationships/extended-properties" Target="/docProps/app.xml" Id="R706d2f0e5ae24982" /><Relationship Type="http://schemas.openxmlformats.org/officeDocument/2006/relationships/officeDocument" Target="/ppt/presentation.xml" Id="R97153c4df319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5c46a34eef40d6"/>
  </p:sldMasterIdLst>
  <p:notesMasterIdLst>
    <p:notesMasterId xmlns:r="http://schemas.openxmlformats.org/officeDocument/2006/relationships" r:id="Rc896fca779ed4346"/>
  </p:notesMasterIdLst>
  <p:sldIdLst>
    <p:sldId xmlns:r="http://schemas.openxmlformats.org/officeDocument/2006/relationships" id="256" r:id="Rab9efb9321044330"/>
    <p:sldId xmlns:r="http://schemas.openxmlformats.org/officeDocument/2006/relationships" id="257" r:id="R2ac27b1ca07a46bf"/>
    <p:sldId xmlns:r="http://schemas.openxmlformats.org/officeDocument/2006/relationships" id="258" r:id="R90630c0ddade4d12"/>
    <p:sldId xmlns:r="http://schemas.openxmlformats.org/officeDocument/2006/relationships" id="259" r:id="R3a4ef1c27d9d4820"/>
    <p:sldId xmlns:r="http://schemas.openxmlformats.org/officeDocument/2006/relationships" id="260" r:id="R35bdd3a10f224369"/>
    <p:sldId xmlns:r="http://schemas.openxmlformats.org/officeDocument/2006/relationships" id="261" r:id="R0cf40554e8a3454f"/>
    <p:sldId xmlns:r="http://schemas.openxmlformats.org/officeDocument/2006/relationships" id="262" r:id="R8549b18034834309"/>
    <p:sldId xmlns:r="http://schemas.openxmlformats.org/officeDocument/2006/relationships" id="263" r:id="R6431c58c4e9348e0"/>
    <p:sldId xmlns:r="http://schemas.openxmlformats.org/officeDocument/2006/relationships" id="264" r:id="Rdf452c3a85e347d9"/>
    <p:sldId xmlns:r="http://schemas.openxmlformats.org/officeDocument/2006/relationships" id="265" r:id="R3ed98be5c8674499"/>
    <p:sldId xmlns:r="http://schemas.openxmlformats.org/officeDocument/2006/relationships" id="266" r:id="R793a82f4385844b5"/>
    <p:sldId xmlns:r="http://schemas.openxmlformats.org/officeDocument/2006/relationships" id="267" r:id="R4aa7063080594b14"/>
    <p:sldId xmlns:r="http://schemas.openxmlformats.org/officeDocument/2006/relationships" id="268" r:id="R86df43451f184181"/>
    <p:sldId xmlns:r="http://schemas.openxmlformats.org/officeDocument/2006/relationships" id="269" r:id="R6afbc361b9e14733"/>
    <p:sldId xmlns:r="http://schemas.openxmlformats.org/officeDocument/2006/relationships" id="270" r:id="R117d1606c7634706"/>
    <p:sldId xmlns:r="http://schemas.openxmlformats.org/officeDocument/2006/relationships" id="271" r:id="Rd5bbf0e5f4054a8b"/>
    <p:sldId xmlns:r="http://schemas.openxmlformats.org/officeDocument/2006/relationships" id="272" r:id="Rfeacc3597aac4bd7"/>
    <p:sldId xmlns:r="http://schemas.openxmlformats.org/officeDocument/2006/relationships" id="273" r:id="R0a3681c819584cbd"/>
    <p:sldId xmlns:r="http://schemas.openxmlformats.org/officeDocument/2006/relationships" id="274" r:id="R0383451e392f4bf2"/>
    <p:sldId xmlns:r="http://schemas.openxmlformats.org/officeDocument/2006/relationships" id="275" r:id="R7c432573f97d4ee2"/>
    <p:sldId xmlns:r="http://schemas.openxmlformats.org/officeDocument/2006/relationships" id="276" r:id="R64564c7e33724de1"/>
    <p:sldId xmlns:r="http://schemas.openxmlformats.org/officeDocument/2006/relationships" id="277" r:id="R9ccedbd3cdd84e6b"/>
    <p:sldId xmlns:r="http://schemas.openxmlformats.org/officeDocument/2006/relationships" id="278" r:id="Rcc2ed17006f64d36"/>
    <p:sldId xmlns:r="http://schemas.openxmlformats.org/officeDocument/2006/relationships" id="279" r:id="R36d6ef7377974c32"/>
    <p:sldId xmlns:r="http://schemas.openxmlformats.org/officeDocument/2006/relationships" id="280" r:id="Reebb68a1282f4f7c"/>
    <p:sldId xmlns:r="http://schemas.openxmlformats.org/officeDocument/2006/relationships" id="281" r:id="R30f81f245f3045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3f8e756e8d4e3a" /><Relationship Type="http://schemas.openxmlformats.org/officeDocument/2006/relationships/slideMaster" Target="/ppt/slideMasters/slideMaster1.xml" Id="Rd45c46a34eef40d6" /><Relationship Type="http://schemas.openxmlformats.org/officeDocument/2006/relationships/notesMaster" Target="/ppt/notesMasters/notesMaster1.xml" Id="Rc896fca779ed4346" /><Relationship Type="http://schemas.openxmlformats.org/officeDocument/2006/relationships/presProps" Target="/ppt/presProps.xml" Id="Rad5a27c2bf944c9d" /><Relationship Type="http://schemas.openxmlformats.org/officeDocument/2006/relationships/tableStyles" Target="/ppt/tableStyles.xml" Id="Rf01aaf0142d542a7" /><Relationship Type="http://schemas.openxmlformats.org/officeDocument/2006/relationships/slide" Target="/ppt/slides/slide1.xml" Id="Rab9efb9321044330" /><Relationship Type="http://schemas.openxmlformats.org/officeDocument/2006/relationships/slide" Target="/ppt/slides/slide2.xml" Id="R2ac27b1ca07a46bf" /><Relationship Type="http://schemas.openxmlformats.org/officeDocument/2006/relationships/slide" Target="/ppt/slides/slide3.xml" Id="R90630c0ddade4d12" /><Relationship Type="http://schemas.openxmlformats.org/officeDocument/2006/relationships/slide" Target="/ppt/slides/slide4.xml" Id="R3a4ef1c27d9d4820" /><Relationship Type="http://schemas.openxmlformats.org/officeDocument/2006/relationships/slide" Target="/ppt/slides/slide5.xml" Id="R35bdd3a10f224369" /><Relationship Type="http://schemas.openxmlformats.org/officeDocument/2006/relationships/slide" Target="/ppt/slides/slide6.xml" Id="R0cf40554e8a3454f" /><Relationship Type="http://schemas.openxmlformats.org/officeDocument/2006/relationships/slide" Target="/ppt/slides/slide7.xml" Id="R8549b18034834309" /><Relationship Type="http://schemas.openxmlformats.org/officeDocument/2006/relationships/slide" Target="/ppt/slides/slide8.xml" Id="R6431c58c4e9348e0" /><Relationship Type="http://schemas.openxmlformats.org/officeDocument/2006/relationships/slide" Target="/ppt/slides/slide9.xml" Id="Rdf452c3a85e347d9" /><Relationship Type="http://schemas.openxmlformats.org/officeDocument/2006/relationships/slide" Target="/ppt/slides/slide10.xml" Id="R3ed98be5c8674499" /><Relationship Type="http://schemas.openxmlformats.org/officeDocument/2006/relationships/slide" Target="/ppt/slides/slide11.xml" Id="R793a82f4385844b5" /><Relationship Type="http://schemas.openxmlformats.org/officeDocument/2006/relationships/slide" Target="/ppt/slides/slide12.xml" Id="R4aa7063080594b14" /><Relationship Type="http://schemas.openxmlformats.org/officeDocument/2006/relationships/slide" Target="/ppt/slides/slide13.xml" Id="R86df43451f184181" /><Relationship Type="http://schemas.openxmlformats.org/officeDocument/2006/relationships/slide" Target="/ppt/slides/slide14.xml" Id="R6afbc361b9e14733" /><Relationship Type="http://schemas.openxmlformats.org/officeDocument/2006/relationships/slide" Target="/ppt/slides/slide15.xml" Id="R117d1606c7634706" /><Relationship Type="http://schemas.openxmlformats.org/officeDocument/2006/relationships/slide" Target="/ppt/slides/slide16.xml" Id="Rd5bbf0e5f4054a8b" /><Relationship Type="http://schemas.openxmlformats.org/officeDocument/2006/relationships/slide" Target="/ppt/slides/slide17.xml" Id="Rfeacc3597aac4bd7" /><Relationship Type="http://schemas.openxmlformats.org/officeDocument/2006/relationships/slide" Target="/ppt/slides/slide18.xml" Id="R0a3681c819584cbd" /><Relationship Type="http://schemas.openxmlformats.org/officeDocument/2006/relationships/slide" Target="/ppt/slides/slide19.xml" Id="R0383451e392f4bf2" /><Relationship Type="http://schemas.openxmlformats.org/officeDocument/2006/relationships/slide" Target="/ppt/slides/slide20.xml" Id="R7c432573f97d4ee2" /><Relationship Type="http://schemas.openxmlformats.org/officeDocument/2006/relationships/slide" Target="/ppt/slides/slide21.xml" Id="R64564c7e33724de1" /><Relationship Type="http://schemas.openxmlformats.org/officeDocument/2006/relationships/slide" Target="/ppt/slides/slide22.xml" Id="R9ccedbd3cdd84e6b" /><Relationship Type="http://schemas.openxmlformats.org/officeDocument/2006/relationships/slide" Target="/ppt/slides/slide23.xml" Id="Rcc2ed17006f64d36" /><Relationship Type="http://schemas.openxmlformats.org/officeDocument/2006/relationships/slide" Target="/ppt/slides/slide24.xml" Id="R36d6ef7377974c32" /><Relationship Type="http://schemas.openxmlformats.org/officeDocument/2006/relationships/slide" Target="/ppt/slides/slide25.xml" Id="Reebb68a1282f4f7c" /><Relationship Type="http://schemas.openxmlformats.org/officeDocument/2006/relationships/slide" Target="/ppt/slides/slide26.xml" Id="R30f81f245f30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2446fd440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14d5b77bdf4599" /><Relationship Type="http://schemas.openxmlformats.org/officeDocument/2006/relationships/notesMaster" Target="/ppt/notesMasters/notesMaster1.xml" Id="Rac3350b82b03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7e4cea779432c" /><Relationship Type="http://schemas.openxmlformats.org/officeDocument/2006/relationships/notesMaster" Target="/ppt/notesMasters/notesMaster1.xml" Id="R132ef5e705a9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eab39c7e6944a7" /><Relationship Type="http://schemas.openxmlformats.org/officeDocument/2006/relationships/notesMaster" Target="/ppt/notesMasters/notesMaster1.xml" Id="Rcef02820b15047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1b3ed9f71741ec" /><Relationship Type="http://schemas.openxmlformats.org/officeDocument/2006/relationships/notesMaster" Target="/ppt/notesMasters/notesMaster1.xml" Id="Rcb8339f8facc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3f19326b54f84" /><Relationship Type="http://schemas.openxmlformats.org/officeDocument/2006/relationships/notesMaster" Target="/ppt/notesMasters/notesMaster1.xml" Id="R91d0843b0c4e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bd87788df84166" /><Relationship Type="http://schemas.openxmlformats.org/officeDocument/2006/relationships/notesMaster" Target="/ppt/notesMasters/notesMaster1.xml" Id="R547df29d686741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f2af535d4496e" /><Relationship Type="http://schemas.openxmlformats.org/officeDocument/2006/relationships/notesMaster" Target="/ppt/notesMasters/notesMaster1.xml" Id="Re05070c1a65542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0f1529bb794410" /><Relationship Type="http://schemas.openxmlformats.org/officeDocument/2006/relationships/notesMaster" Target="/ppt/notesMasters/notesMaster1.xml" Id="Rb27dfd270c9c41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81ae79f9dd4795" /><Relationship Type="http://schemas.openxmlformats.org/officeDocument/2006/relationships/notesMaster" Target="/ppt/notesMasters/notesMaster1.xml" Id="R6df1562a1b6f47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587e7ff479437e" /><Relationship Type="http://schemas.openxmlformats.org/officeDocument/2006/relationships/notesMaster" Target="/ppt/notesMasters/notesMaster1.xml" Id="R8401cd891ce248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ff40b53501430b" /><Relationship Type="http://schemas.openxmlformats.org/officeDocument/2006/relationships/notesMaster" Target="/ppt/notesMasters/notesMaster1.xml" Id="Rf2c380be700e4c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2e66a186334ad6" /><Relationship Type="http://schemas.openxmlformats.org/officeDocument/2006/relationships/notesMaster" Target="/ppt/notesMasters/notesMaster1.xml" Id="Rbee3c2523e4945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588170a8974a09" /><Relationship Type="http://schemas.openxmlformats.org/officeDocument/2006/relationships/notesMaster" Target="/ppt/notesMasters/notesMaster1.xml" Id="Re0ef1b7ab25a42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873d9cd3f54dc5" /><Relationship Type="http://schemas.openxmlformats.org/officeDocument/2006/relationships/notesMaster" Target="/ppt/notesMasters/notesMaster1.xml" Id="Re1da36580fcd4c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3b917b836a4ddf" /><Relationship Type="http://schemas.openxmlformats.org/officeDocument/2006/relationships/notesMaster" Target="/ppt/notesMasters/notesMaster1.xml" Id="R208645c334e24e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2c9014eb9c42a9" /><Relationship Type="http://schemas.openxmlformats.org/officeDocument/2006/relationships/notesMaster" Target="/ppt/notesMasters/notesMaster1.xml" Id="R73cf97ef1f2e45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a61690305349c6" /><Relationship Type="http://schemas.openxmlformats.org/officeDocument/2006/relationships/notesMaster" Target="/ppt/notesMasters/notesMaster1.xml" Id="R93c84f3ca26241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e87c781ed4424a" /><Relationship Type="http://schemas.openxmlformats.org/officeDocument/2006/relationships/notesMaster" Target="/ppt/notesMasters/notesMaster1.xml" Id="R53ac57ab82334f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f3a84a36e94ae5" /><Relationship Type="http://schemas.openxmlformats.org/officeDocument/2006/relationships/notesMaster" Target="/ppt/notesMasters/notesMaster1.xml" Id="R3f85f4b741ef451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c289de96f24196" /><Relationship Type="http://schemas.openxmlformats.org/officeDocument/2006/relationships/notesMaster" Target="/ppt/notesMasters/notesMaster1.xml" Id="R5e8c7f31039f4e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1379f360044553" /><Relationship Type="http://schemas.openxmlformats.org/officeDocument/2006/relationships/notesMaster" Target="/ppt/notesMasters/notesMaster1.xml" Id="Rfff9a63bc5854b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adc82260fc4df7" /><Relationship Type="http://schemas.openxmlformats.org/officeDocument/2006/relationships/notesMaster" Target="/ppt/notesMasters/notesMaster1.xml" Id="Rc2c24dc936ec44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09365f1dbe465b" /><Relationship Type="http://schemas.openxmlformats.org/officeDocument/2006/relationships/notesMaster" Target="/ppt/notesMasters/notesMaster1.xml" Id="R865b0f22c37744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c42a9a5749407e" /><Relationship Type="http://schemas.openxmlformats.org/officeDocument/2006/relationships/notesMaster" Target="/ppt/notesMasters/notesMaster1.xml" Id="Rf68dcef07f424b7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1dc48c04264e4d" /><Relationship Type="http://schemas.openxmlformats.org/officeDocument/2006/relationships/notesMaster" Target="/ppt/notesMasters/notesMaster1.xml" Id="Ra2454a24f3fd424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3af549c0b504d26" /><Relationship Type="http://schemas.openxmlformats.org/officeDocument/2006/relationships/notesMaster" Target="/ppt/notesMasters/notesMaster1.xml" Id="R746383671bc848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708c303bb4c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0d795475d42e9" /><Relationship Type="http://schemas.openxmlformats.org/officeDocument/2006/relationships/slideLayout" Target="/ppt/slideLayouts/slideLayout1.xml" Id="R9c847531fa15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847531fa15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a85487584539" /><Relationship Type="http://schemas.openxmlformats.org/officeDocument/2006/relationships/notesSlide" Target="/ppt/notesSlides/notesSlide1.xml" Id="Rb75f4ab353f44f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800a88d994666" /><Relationship Type="http://schemas.openxmlformats.org/officeDocument/2006/relationships/notesSlide" Target="/ppt/notesSlides/notesSlide2.xml" Id="R95f9364a5ba9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1b8d5599e4e3b" /><Relationship Type="http://schemas.openxmlformats.org/officeDocument/2006/relationships/notesSlide" Target="/ppt/notesSlides/notesSlide3.xml" Id="R4e2460d4888a47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1e1d5f44843dd" /><Relationship Type="http://schemas.openxmlformats.org/officeDocument/2006/relationships/notesSlide" Target="/ppt/notesSlides/notesSlide4.xml" Id="Rc887067f31c1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7b24a0224069" /><Relationship Type="http://schemas.openxmlformats.org/officeDocument/2006/relationships/notesSlide" Target="/ppt/notesSlides/notesSlide5.xml" Id="Rc04448a7b41145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de1a1fcdd4642" /><Relationship Type="http://schemas.openxmlformats.org/officeDocument/2006/relationships/notesSlide" Target="/ppt/notesSlides/notesSlide6.xml" Id="R00ee66ae7e5b48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661c2b02d4c6b" /><Relationship Type="http://schemas.openxmlformats.org/officeDocument/2006/relationships/notesSlide" Target="/ppt/notesSlides/notesSlide7.xml" Id="R6028bd556d354c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e61f168c4411" /><Relationship Type="http://schemas.openxmlformats.org/officeDocument/2006/relationships/notesSlide" Target="/ppt/notesSlides/notesSlide8.xml" Id="R02f66acd49ea47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56ad624574709" /><Relationship Type="http://schemas.openxmlformats.org/officeDocument/2006/relationships/notesSlide" Target="/ppt/notesSlides/notesSlide9.xml" Id="R3d445b7144a041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21353a84747bd" /><Relationship Type="http://schemas.openxmlformats.org/officeDocument/2006/relationships/notesSlide" Target="/ppt/notesSlides/notesSlide10.xml" Id="R3f8bb0c5dc7443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75b2bdbe648b3" /><Relationship Type="http://schemas.openxmlformats.org/officeDocument/2006/relationships/notesSlide" Target="/ppt/notesSlides/notesSlide11.xml" Id="R4387bceb3e044d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f767dabe4447b" /><Relationship Type="http://schemas.openxmlformats.org/officeDocument/2006/relationships/notesSlide" Target="/ppt/notesSlides/notesSlide12.xml" Id="Rea09c278647d40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2a77605cf431d" /><Relationship Type="http://schemas.openxmlformats.org/officeDocument/2006/relationships/notesSlide" Target="/ppt/notesSlides/notesSlide13.xml" Id="R79c2e20be42c46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a6688ffbc4563" /><Relationship Type="http://schemas.openxmlformats.org/officeDocument/2006/relationships/notesSlide" Target="/ppt/notesSlides/notesSlide14.xml" Id="R98cc1f218c4a4e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ec9cfc094d29" /><Relationship Type="http://schemas.openxmlformats.org/officeDocument/2006/relationships/notesSlide" Target="/ppt/notesSlides/notesSlide15.xml" Id="R4f9242eb957048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ac627fa854a78" /><Relationship Type="http://schemas.openxmlformats.org/officeDocument/2006/relationships/notesSlide" Target="/ppt/notesSlides/notesSlide16.xml" Id="R23e09602f07e4c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bcbda01f94b99" /><Relationship Type="http://schemas.openxmlformats.org/officeDocument/2006/relationships/notesSlide" Target="/ppt/notesSlides/notesSlide17.xml" Id="Rbe54fedc4ed442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79240701c4f2a" /><Relationship Type="http://schemas.openxmlformats.org/officeDocument/2006/relationships/notesSlide" Target="/ppt/notesSlides/notesSlide18.xml" Id="R2b7aee5ebc774c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382446d8242dc" /><Relationship Type="http://schemas.openxmlformats.org/officeDocument/2006/relationships/notesSlide" Target="/ppt/notesSlides/notesSlide19.xml" Id="Rfe912b40a4b04a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f318364f48e4" /><Relationship Type="http://schemas.openxmlformats.org/officeDocument/2006/relationships/notesSlide" Target="/ppt/notesSlides/notesSlide20.xml" Id="R253d8aacee41421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0610f6c4440a" /><Relationship Type="http://schemas.openxmlformats.org/officeDocument/2006/relationships/notesSlide" Target="/ppt/notesSlides/notesSlide21.xml" Id="Rde2695a8025549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87f7a221400d" /><Relationship Type="http://schemas.openxmlformats.org/officeDocument/2006/relationships/notesSlide" Target="/ppt/notesSlides/notesSlide22.xml" Id="R9f125be913604b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170ce760b4723" /><Relationship Type="http://schemas.openxmlformats.org/officeDocument/2006/relationships/notesSlide" Target="/ppt/notesSlides/notesSlide23.xml" Id="Rcc3351108f644e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b04b3b2a34437" /><Relationship Type="http://schemas.openxmlformats.org/officeDocument/2006/relationships/notesSlide" Target="/ppt/notesSlides/notesSlide24.xml" Id="R71730b4702be46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abf8a78cb4fa6" /><Relationship Type="http://schemas.openxmlformats.org/officeDocument/2006/relationships/notesSlide" Target="/ppt/notesSlides/notesSlide25.xml" Id="R530355b5ecfb4c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1614fab824caa" /><Relationship Type="http://schemas.openxmlformats.org/officeDocument/2006/relationships/notesSlide" Target="/ppt/notesSlides/notesSlide26.xml" Id="R879a17ad517e47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54E5D-45DF-449D-9001-D0CCEDC6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827"/>
                </a:solidFill>
              </a:defRPr>
            </a:pPr>
            <a:r>
              <a:rPr sz="4200" b="1">
                <a:solidFill>
                  <a:srgbClr val="111827"/>
                </a:solidFill>
              </a:rPr>
              <a:t>CreoVCS Application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A4FDA-A14A-409C-B3D9-430129AF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A complete plain-language walkthrough of the app, its pages, workflows, controls, and governance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D7536-9ECA-4224-B4C3-BC8E13AC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9B13D-68DC-4738-8105-7F675A0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Plain reference deck for users, reviewers, and administrators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D7C70-E074-485E-92EE-940C643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45C2B-8569-4534-B3E7-3D23DD89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18920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DE975-E26D-42A2-8470-5CCAA542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CreoVCS is a lightweight PLM workflow for Creo BOM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03F0-77A3-4D7B-BB21-18BB56E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6C0B2-2253-4BCE-8544-9E8A54D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470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Manages multiple projects, assemblies, parts, CAD names, drawings, revisions, and lifecycle states.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Controls design changes with check-in/check-out locks, commit staging, validation, and merge approval.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Stores engineering deliverables in a file vault with version history, active versions, release states, and checksums.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Creates reproducible delivery packages using released PDF and STEP files or frozen baselines.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Connects engineering issues to BOM parts, files, commits, validation decisions, snapshots, and release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1BF23-6FC7-441F-A025-FA80018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8FA21-651B-4CD0-81E8-DF57A06C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2875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230921-2C01-4B4B-B52D-9F75CA8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app is organized around six main work areas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96D33-1FD2-4070-9A8B-03D18696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9E000-2F4E-447A-A853-C9F84904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Main 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C2065-1A7A-494A-BBBA-5EE7C16E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BOM: structure, details, files, issues, history, and part actions.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Commit: staged CAD changes, pending reviews, validation, merge, restore, and history.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Issue Center: engineering issue tracking and traceability.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Diagnostic: database, commit folder, working directory, and orphan-file checks.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Snapshots: frozen project state capture, comparison, and JSON export.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Admin: users, roles, permissions, projects, configuration, metadata, and membership.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33076-6072-4B41-9D6B-A12D15F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Global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A0845-51BE-4D64-9CD4-C9C2E33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Login and startup flow with database migrations before the main window opens.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Project selector shows only projects assigned to the current user.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New Version creates a project revision and purge-copies the latest Creo iterations.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Refresh reloads the current workspace and project context.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Export delegates to the active page, including BOM CSV export.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CAD Viewer launches the advanced STEP, IGES, and BREP viewer in development mode.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7F366-82F9-4DCA-AB1D-3ABBA4DA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1C1B5-4262-4F2E-96E0-1F8465DC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0781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BA229-59F4-4ACE-8E9F-682EF3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Users follow different workflows based on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D4BBE-896C-477F-B9B7-73EC6CA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69ED4-BA91-41BE-A9C6-B1D6FA18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Designer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78CE0-9BFF-41FA-9A03-F5590588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Select a project and confirm its working directory is available.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Browse or filter the BOM, add or edit parts, add child relationships, and associate drawings.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Check out a part before editing and check it back in when work is ready.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Stage Creo files, write a commit title and rich message, add validation documents, link issues, and submit.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Use file indicators and diagnostics to resolve missing, outdated, or unexpected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A5EC6-D2B6-4A91-A6A9-3C66448A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Checker, master, and admin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D8E10-D657-4F8C-9157-C4100E2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Review pending commit groups, changed files, linked issues, validation docs, and STEP comparison data.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Validate or reject claimed issue resolutions independently during commit review.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Push approved commit groups to master when release gates pass.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Restore pushed commit groups when a rollback is needed.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Admin users maintain accounts, roles, permissions, projects, metadata, version settings, and licensing paths.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788A3-C38A-4986-8434-8C4E793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CD7FB-44BC-4349-B06E-6BFFA23C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1537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2897D-79C3-4CB6-BF9E-CC77A0D2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BOM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F71C8-8E0E-4BD0-AC8D-874DCF39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The main page for product structure, part details, files, and traceability.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47AE8-C705-4138-A575-952DC621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99E91-F93A-4CEF-B8E2-BBB6948A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8ADBC-EAC5-41F0-B3A0-C795276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333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089A85-B8ED-44F6-AE28-2F9B33D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BOM browser combines structure, status, and integrity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A8739-24CB-4184-B000-EFDC982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A3E5-2522-41DF-9D41-2FCA9452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Tree and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2263A-8AAA-43DB-8C30-37EF50CA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Hierarchical part and assembly tree with parent and child quantities.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Search box and separate search-result tree.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Advanced Filter supports text, work state, owner, status, type, revision, structure, PDF, STEP, integrity, and issue filters.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Clear Filter returns the tree to the normal project view.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BOM health label summarizes the current structure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7B180-3344-4AC6-860B-89C71593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Inline indicators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68AE-D9F4-4E0D-8EF5-D4D4DFD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In Work marker appears beside checked-out or edited items.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PDF and STEP badges show ok, missing, outdated, acknowledged, or not applicable status.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Integrity warnings surface missing CAD, drawing, PDF, and STEP findings.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Issue markers distinguish direct active issues, inherited assembly issues, and resolved-only states.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- Tooltips explain file and integrity states without opening another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7914F-33EC-4188-89BE-AB1D15D5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056B1-9F1C-43EA-BD2D-B79ADC1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94390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234D4-90C1-4C29-878A-AAD67638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Part actions cover BOM editing and controlled work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AF9DC-7EAE-437A-8D4D-2E41ED2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FAD1B-F310-406A-BE3B-2B30CAE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Part and structure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6B330-509D-4596-8E16-082F3DDA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Part opens the part dialog and requires key identity fields.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Edit Part updates selected part metadata.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Delete Part removes the selected BOM item when allowed.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Child creates a parent-child relationship and quantity.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Set Revision is permission-gated and supports controlled revision updates.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Associate Drawing links a drawing file to the selected part.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F4CA-8AA9-4007-8734-743C856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Work control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5C341-F993-4DA9-BAD9-F05AC8D1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Check Out locks the part for the current user and prevents parallel edits.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Check In records the work as ready for commit workflow.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Lock logs provide audit history for check-in and check-out events.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Context menus expose view details, edit, delete, add child, associate drawing, open PDF, preview PDF, open STEP, refresh files, and 3D STEP viewing.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Selected file states can be acknowledged as safe when the user has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8A8D0-2393-4B48-AAF0-D980E14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E79F2-F80A-45C5-BD84-5896A40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8690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C6900-D3C2-4DF2-BAC9-7B4E046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Part details explain the selected BOM item and its downstream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8EB79-E16F-4B75-9E34-CC22073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E90D3-0615-4585-B8D6-7AEA6D9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Details tabs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A0618-C083-4092-8951-FF7F02F3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Details tab shows core identity, lifecycle, revision, CAD naming, and other part fields.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Children tab lists child components in the selected assembly.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Notes tab displays stored notes.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Issues tab shows related issue rows and provides Open Issue List and Create Issue shortcuts.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History tab provides filtered audit history for the part.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E0325-5EAA-40E4-9496-027E28BE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History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ED363-96E9-4BC6-AE6A-C4EEF8C3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History includes KPI cards, timeline sparkline, user activity bar, event search, event-type chips, count summary, and sorting.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History rows can be exported to CSV.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History detail dialogs show metadata, linked commit data, STEP status, STEP file paths, and STEP diff path.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Users can copy event details to the clipboard.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STEP-related history can open the associated STEP viewer or STEP diff zones when files exist.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1E3E0-5836-4D4A-9275-1FB55407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5D11F-9C9F-4457-A6CB-3BACCDB4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155010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31B8E-8068-4A8A-A62C-C67D493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file vault manages attachments, versions, releases, and 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C63D9-71B2-47CB-8CF4-CC1E403A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85861-99AB-43E5-9E72-68C1DE69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Attachment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E9468-B4C0-44F8-A467-016FF67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Attachment creates a logical file entry for PDF, STEP, DWG, or other engineering files.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Version stores an immutable file version in the project vault.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Set Active chooses the current version for an attachment.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Open Active and Open Folder help users inspect the active deliverable and its vault location.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Remove deletes the attachment record when allowed.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Drag and drop supports adding files into the attachment 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DA8D7-FAAF-4CB1-8F30-D2A32F08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Version and export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65F81-7868-4200-A8C1-9DB082D8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Versions track file name, version number, lifecycle state, revision, note, checksum, size, and storage path.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Open Version opens a selected stored version.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Release Version is permission-gated and blocked by unresolved critical issues.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Delete Version removes an individual version when allowed.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Create Baseline freezes selected released PDF and STEP version IDs.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Export Package exports active released PDF and STEP files with manifest and optional ZIP.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Export Baseline exports the exact pinned released versions from a baseline.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F6AA2-2A20-4A91-9211-3FA08F1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5DCED-308B-4D04-B5A7-BFA5FBE4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70257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5BA93-E02F-4FE6-B13A-D8C1234B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Commit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8DDF0-5046-4D2D-951D-6281D60A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The controlled path from staged CAD work to validation, merge, and rollback.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6C5AF-CD81-491E-8DFC-E6B086CC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5B04D-8273-44DD-9B32-6F18B122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9D7FB-FDFB-4107-8BD9-2972DEEC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3122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118F2-FEAB-45E8-B0D4-A48F7CE6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Commit creation stages CAD files, documents, and issue resolution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F3DF-954C-4DF4-B34A-86ACF230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298F7-046A-4058-8DFA-BC183F47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Staging and authoring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C7105-9294-4953-8203-3D96BC73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Users stage uncommitted Creo files from the project working directory.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 title, rich-text commit message, and designer selection are required.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The drop area accepts CAD files such as PRT, ASM, and DRW.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Affected BOM cards can receive validation documents such as PDF, STEP, or other engineering output files.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Documents can be removed before submission.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1F867-A834-42B0-863F-49F3E01D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Traceability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4EB20-DF18-4EF8-820E-F6EDCA9E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Users can link resolved issues and choose the issue relation type.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Jira key and Jira URL can be stored on the commit.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STEP comparison can be enabled for geometry change review.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If a staged CAD file has no BOM item, the app can prompt to create a new part.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 submission records affected parts so BOM, issue, and history views refresh.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30A2-888F-456D-86BE-484AE033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05158-DCDB-4B01-BC8C-29355177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65664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09225-6EF6-49D6-9D6A-610617E3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Commit review separates validation, merge, restore, and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8E87E-9925-4655-A191-BBA7820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01B35-2012-4C99-9CA1-3AB8033B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Pending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EE293-EF84-4D9C-8042-9504EE2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Pending commit groups are displayed for review.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Reviewers inspect commit metadata, changed files, validation documents, linked issues, and STEP comparison results.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Validate Commit confirms a group and can independently confirm or reject each claimed issue resolution.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Rejected issue resolutions return issues to In Progress.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Revert can return a pending group to a reverted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4EBD4-11B6-4222-B357-4C27EE8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Merge and rollback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7B70F-F353-46AE-A0FD-0E31A808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Push to Master executes the merge for an approved commit group.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Merge is blocked when project, issue, permission, or release-gate rules fail.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 history tracks approved, validated, pending, integrated, reverted, pushed, released, and WIP states.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Restore is available for commit groups already pushed to master.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Restore returns affected BOM files to the previous approved version and reopens linked closed issues when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352CF-3703-410A-8FE5-CC199758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993BE-9AEF-49F5-9382-A61F1898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21136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4146B-DA7A-4C86-AD78-1514DA8E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Issue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818AB-5EFA-4C69-A2A4-995AB1E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BOM-integrated engineering governance with workflow, files, commits, and audit.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35292-9940-4C2B-B119-F87BCA1A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04F51-D9D4-4D23-B5D6-0140E108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694A3-BB08-401D-9F96-16C88171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740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8DBDB5-3456-45BC-93FB-3541BBFA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Issue Center tracks engineering risk from creation to 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34F8A-E8A1-4A2B-BE51-AC5F02C2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79D24-B22C-4E2D-9053-37DE071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Issue list and metrics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670B5-0BEC-4441-A059-924EF30D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Metric cards show open issues, closed issues, critical issues, overdue issues, and average resolution days.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Analytics summarize risk hotspots by part and active workload by assignee.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Filters include keyword, status, priority, assignee, creator, affected part, created date, and overdue status.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All Issues clears the active part filter.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New Issue creates an engineering issue linked to selected parts or assemblies.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8D77E-C6AC-4929-A109-AF09545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Issue fields and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023A-528D-497C-AA44-9E49C628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Issue form includes title, rich description, priority, category, assignee, due date, affected parts, and attachments.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Lifecycle is Open, In Progress, Ready For Validation, and Closed.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Validation rejection returns an issue to In Progress.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Closed issues can be reopened.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Archive preserves the full audit trail instead of deleting the issue.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49493-E235-46AA-AFF9-87986F20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11CA5-2523-4BB9-8581-0F79DDE4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4838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7B9666-2A12-44CA-A425-09973A7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Issue details connect every decision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E4AB5-834C-4B74-BB08-8B2D1BD0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B5426-A8E0-43CC-9C61-E94F2136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Detail tabs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BC330-3C49-4323-BCD7-AD3AE532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Jira tab stores Jira key, URL, status, and creation date.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Linked Creo Files lists affected CAD files, drawings, base names, file roles, and revisions.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Linked Engineering Files lists validation and output documents connected through commits or vault links.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Comments tab stores engineering discussion entries.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Timeline tab records workflow, field, comment, attachment, and validation events.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Attachments tab stores issue-specific files below the project issue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BB63C-0874-4E33-AA1D-B78A58FD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Commit traceability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F7067-E1A9-43E2-B1BC-03885B7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Linked Commits tab shows commit relation, validation state, commit status, author, date, merge ID, and revert time.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Double-clicking a linked commit opens commit details.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 details include summary, files changed, validation documents, validation decisions, and STEP comparison 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Export Traceability creates an issue package with manifest, input files, output files, and validation docs.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BOM issue indicators refresh when issue state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E1415-D3C1-4FD9-9B0A-E63B1DC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EF761-6CEC-4E31-983E-3092130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351298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189B8-7034-4789-8DD8-DD50881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Diagnostics and Snapshots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D0568-0F73-4CED-869A-47EF3F6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Tools for checking project integrity and preserving reproducible project states.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5A805-7E68-4C9E-A37B-2CCEDCD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6B9E2-9B97-41C3-9E60-4C29995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DD2C1-CB6F-4F5B-8174-948F6945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62531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EAAA6-4F15-483C-9A52-B81C6B39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Diagnostics detect sync, working directory, and orphan-file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A5596-DF7A-4DE2-BFB3-E96C64C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39642-6834-463C-9AAB-ACE0C53D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Diagnostic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FD59A-8C9E-4ED0-839F-2BA0569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Database Sync compares pending commits in the database to commit folders and files on disk.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Working Dir Check compares Creo files in the working directory to the last snapshot and approved commits.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Orphan Files identifies Creo files not linked to any BOM part.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Full scan refreshes all three diagnostic areas.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Console output records scan progress and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FD23E-0A3D-444D-AC5B-28DA4F36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Diagnostic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14827-07A6-4A7C-B61D-3D0B396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Force integrate selected marks unexpected files as legal without creating a normal commit.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Delete selected permanently removes unexpected files from the working directory.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Force integrate and delete require merge-level permission.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Deletion includes path-safety checks and best-effort audit logging.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BOM diagnostics also synchronize missing or outdated CAD, drawing, PDF, and STEP findings into validation issues.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D4215-63F9-46A9-AC80-D7B806F5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883C5-C872-44CF-939D-F59B0E9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153528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A572B-7843-45EF-9E9F-971AF665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Snapshots preserve project state and show change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424A2-1C18-412C-9386-C6DC5AB6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ED526-863A-4F95-8A45-FDF4386D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Snapshot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7D581-6087-407F-8509-8BE8F61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Create Snapshot captures the project state with progress feedback and cancellation support.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Snapshot table shows ID, name, creator, and creation time.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View Details opens a snapshot detail dialog.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Delete Snapshot removes a selected snapshot after confirmation.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Export JSON writes the selected snapshot data to a file.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FD5C4-37F7-41D6-BA5F-2E437DA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8FFC4-1055-4251-8685-CF3FBFA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Compare Snapshots requires two different snapshots.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Comparison reports added, removed, and modified files.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Issue comparison reports issues added, issues removed, and issue state changes.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Snapshot details include file metadata and issue summaries.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Historical snapshots support audit-friendly reviews of what changed between project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D14D8-7E83-4D60-B540-A542BB36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6DDFD-9243-4076-945E-7FF0F88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58929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AE547-A37A-4137-AB60-14EBBCE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Administration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C17C8-2677-4001-A472-83036700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The control layer for users, access, projects, configuration, and licensing.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43493-F0A6-4FA3-B00A-C8027468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B565B-FAAF-4F35-ABFB-FF6BAA2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CF5B-AC3A-4F96-9164-A704536B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92990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AF9B57-C834-4F9C-8E2A-8CD031CD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Admin controls accounts, roles, permissions, projects, and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4972B-5B25-4D0D-9C27-D083F668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181FD-187F-4FCC-8401-D7F21001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Access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1F94E-3094-4552-BE2D-C549514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Users tab creates, edits, deletes, and resets user accounts.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Users can be marked as admin.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Roles can be assigned to or removed from users.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Access Control tab creates, renames, and deletes roles.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Permissions can be created, deleted, assigned to roles, and removed from roles.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Seeded roles include admin, checker, designer, and master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D1E4C-A5E7-4AA1-ACE5-05380553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Projects and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8BAEC-0C61-47AF-816B-7CCB4AED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Projects tab creates, edits, deletes, searches, and lists projects with working directories and version labels.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Project members can be added and removed.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Read-only projects cannot be edited.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Configuration tab shows application version, license source, important paths, and metadata.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Admins can copy paths, open folders or files, and save or delete metadata.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Sensitive metadata changes warn before saving or deleting because they affect startup, version, or licensing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136DE-43AD-40F4-991C-1E39E7D9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F4123-4E38-4057-A031-C39DAC6A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74055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13DF8-EED4-45C1-B759-D750EDE2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Security and governance are built into everyday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2E4D2-A8B8-4F0E-8C82-50F7DAA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9E9B7-225C-4F61-8C2B-89C9745B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Permission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FE017-9F7F-4480-AD80-58E3E9A4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Admin Panel visibility is permission-gated.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Commit, validate, merge, release files, and set revision are controlled by permissions.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Release Version requires release authority.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Force integrate and delete unexpected files require merge authority.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Project selector limits access to projects assigned to the signed-in user.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C7BBB-512D-4895-ACA7-DE85DAB2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Startup and licensing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4EB6D-050F-4084-85CF-F22B123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The app resolves a shared workspace folder containing the SQLite database before opening.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Database migrations run during startup and are best-effort.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License verification runs before login, using an Ed25519 public key.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License path can come from an environment variable, AppData, or the application folder.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Revocation data is checked from the shared workspace.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Version notification can alert users when a newer app version is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28940-1EFD-4289-B2A7-974B2F8A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F0490-497C-488F-B3C0-8E42F8AC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02841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3472F-6285-4D68-891B-7A0764D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CAD and STEP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FA2EE-3475-4187-B817-3BBC73A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Viewer and geometry-diff utilities support design review beyond table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37BCC-34B0-4622-853C-CC041E20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41481-C99F-4474-8C48-193B9D3A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4F7D3-B18D-4D1B-943C-51545B63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004142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2130A-E3BF-470A-BABF-9AC18FB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CAD tools support visual inspection and STEP geometry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F7BB7-7887-455B-A8CC-6C14B882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0993B-550E-4A1F-916E-5DF6BCD9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CAD viewer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454AC-2C8E-4B8C-9D7B-D2E4FE32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Toolbar action launches the Advanced CAD Viewer in development mode.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Viewer is intended for STEP, IGES, and BREP inspection.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BOM context menu can open a selected STEP file in the 3D viewer.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History dialogs can open associated STEP files for commit events.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Frozen builds currently show a message that the advanced viewer will be available in a later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FB803-DC82-483B-89D8-8C20441B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STEP diff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49972-B3C7-4687-B37B-E4D1A47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Parses STEP and STP files with pythonOCC.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Extracts per-face surface type, area, center of mass, normal vector, radius, and axis 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Creates stable face fingerprints.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Reports added, removed, and modified surfaces, volume delta, and bounding-box deltas.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Stores diff records in JSON and supports fingerprint history lookup.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GUI visualizer highlights removed, added, modified, and unchanged faces.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46DCC-2873-44F1-A5E1-AE9AC19B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677C4-0E30-4022-A300-E470BD2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478450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1C33D-A5C9-43C9-A46C-D1B85704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Data model and storage keep the app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72699-9084-4B33-9294-7CF4F6F2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FD506-8D26-492D-8BC8-4A745F0E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Database-backed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A0EB8-3444-40C2-844A-3B308E57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Core tables cover users, projects, and user-project membership.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BOM tables store parts, assemblies, relationships, quantities, CAD names, drawings, revisions, and lifecycle state.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Locks and lock logs track current check-out state and historical work-control events.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Commits and signatures store proposed changes, validation, merge, approval, and rollback metadata.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Roles, permissions, user roles, and role permissions implement RBAC.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F8CD-989E-42CE-871F-EB20AEF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38112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Files and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E9D6A-324A-42BD-A97B-28A55690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520065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part_files stores logical attachments and active versions.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part_file_versions stores immutable file versions with vault path, checksum, size, version number, lifecycle, revision, and note.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Baselines and baseline_files freeze exact released deliverables.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Snapshots store project state and issue summaries.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Issues, issue parts, comments, commit links, attachments, history, and notifications preserve governance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68BD4-F669-47C6-AEFB-DF9D3D9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28BF9-5D8D-4B3B-BE9D-E4EC82AE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074907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46308C-2DF6-46A9-8A9E-786F8CF7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Recommended operating rhythm for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D5E75-8436-40F5-83F8-B51DB95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41A5B-F53C-4EFE-9251-99A5ACF5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470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Start each session by selecting the correct project and confirming the working directory is available.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Use the BOM browser and advanced filter to find target assemblies, parts, missing files, or issue hotspots.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Check out parts before changing CAD files, then check in and submit a commit with clear message, linked issues, and validation docs.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Reviewers validate commit groups, confirm or reject issue resolutions, inspect STEP changes, and push only when gates pass.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Release file versions only after critical issues are resolved and the active PDF or STEP deliverable is correct.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Create baselines before formal delivery exports, and use snapshots to preserve audit checkpoints.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Use diagnostics to clean unexpected or orphan files before packaging or major reviews.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- Use Admin regularly to keep users, roles, project membership, metadata, license paths, and version settings current.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A009E-5635-48BB-9755-0A7E3AF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EEA5A-8632-4A31-BF12-E371B5B5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78990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43DA66-87E7-4B42-8BC4-4A597EC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key takeaway is controlled traceability without full PLM overhead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7ED51-40C3-41CB-B6D3-F6626C89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ABB0-432F-44FF-8A7A-1E84EE5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470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CreoVCS connects BOM structure, CAD files, engineering documents, issues, commits, releases, baselines, diagnostics, snapshots, and permissions in one desktop workflow.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Designers get practical check-in/check-out, file vault, and commit tools.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Reviewers get validation, issue resolution confirmation, STEP comparison, release gates, and rollback support.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Administrators get project, membership, access-control, configuration, licensing, and version-management tools.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Every major action leaves data behind for audit, export, troubleshooting, or future project revisions.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FAFC5-7192-414F-8944-B736F5E5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CreoVCS application guide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A2F32-2552-4CC2-A2C8-9F3E3EB9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55068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2026-07-02T23:00:48.9110000Z</dcterms:created>
  <dcterms:modified xsi:type="dcterms:W3CDTF">2026-07-02T23:00:48.9120000Z</dcterms:modified>
</coreProperties>
</file>
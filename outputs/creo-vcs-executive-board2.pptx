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9E49A-D488-5A14-3057-5FFF5578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998329-E261-629A-B3BF-21ADF6238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5ECE9-00B2-8AC8-8FCC-6731F7A37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BFC11-854E-A7BD-6D6F-449124B5D73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3382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BE1EF-298B-56A6-35B5-B89426216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9C483-11FA-AEA4-D07F-72F2D3F86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18C6D-CE50-4B49-801E-DBB0879B0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8D835-E9D7-A2C6-5AEC-452EE1E6521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32001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B6EF8-057D-617C-C5E3-AF4132442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C3CAA-D8E7-B053-E48F-42464FC72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E8E22-BE09-D513-99DA-D3A438346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6BCFE-2F61-8D83-162B-3036A0710FC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87739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C6759E0-092E-4915-B817-A68A827352A8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5715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0B1220"/>
                </a:solidFill>
              </a:defRPr>
            </a:pPr>
            <a:r>
              <a:rPr sz="4800" b="1">
                <a:solidFill>
                  <a:srgbClr val="0B1220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BCA53B-9D8C-4D3D-A5C3-DC646D3C1CD6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7239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586174"/>
                </a:solidFill>
              </a:defRPr>
            </a:pPr>
            <a:r>
              <a:rPr sz="2100" b="0">
                <a:solidFill>
                  <a:srgbClr val="586174"/>
                </a:solidFill>
              </a:rPr>
              <a:t>Plateforme de gestion, traçabilité et gouvernance des données mécaniques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51A9A2-4335-43EE-9532-87CED1DD8D25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266700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740919-D0F2-46E8-8BB4-C173A99D41DE}"/>
              </a:ext>
            </a:extLst>
          </p:cNvPr>
          <p:cNvSpPr>
            <a:spLocks noGrp="1"/>
          </p:cNvSpPr>
          <p:nvPr/>
        </p:nvSpPr>
        <p:spPr>
          <a:xfrm>
            <a:off x="552450" y="34290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Objectif de la présentation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4FEC04-278F-4C96-90A0-3E2C125EC941}"/>
              </a:ext>
            </a:extLst>
          </p:cNvPr>
          <p:cNvSpPr>
            <a:spLocks noGrp="1"/>
          </p:cNvSpPr>
          <p:nvPr/>
        </p:nvSpPr>
        <p:spPr>
          <a:xfrm>
            <a:off x="552450" y="3867150"/>
            <a:ext cx="7429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Montrer la valeur ajoutée pour l'équipe mécanique, la direction projet et la qualité: moins de risque, plus de visibilité, une traçabilité complète.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F7692F-EB95-4C6B-98BD-10DBA44C2637}"/>
              </a:ext>
            </a:extLst>
          </p:cNvPr>
          <p:cNvSpPr>
            <a:spLocks noGrp="1"/>
          </p:cNvSpPr>
          <p:nvPr/>
        </p:nvSpPr>
        <p:spPr>
          <a:xfrm>
            <a:off x="8667750" y="819150"/>
            <a:ext cx="2571750" cy="42672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6FD8F2-806B-424B-97D6-B1034AB1D66D}"/>
              </a:ext>
            </a:extLst>
          </p:cNvPr>
          <p:cNvSpPr>
            <a:spLocks noGrp="1"/>
          </p:cNvSpPr>
          <p:nvPr/>
        </p:nvSpPr>
        <p:spPr>
          <a:xfrm>
            <a:off x="9144000" y="12382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Jira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99E340-5337-40A1-9861-CB287A5E0F8D}"/>
              </a:ext>
            </a:extLst>
          </p:cNvPr>
          <p:cNvSpPr>
            <a:spLocks noGrp="1"/>
          </p:cNvSpPr>
          <p:nvPr/>
        </p:nvSpPr>
        <p:spPr>
          <a:xfrm>
            <a:off x="9677400" y="175260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C1F733-194F-40E1-8103-C977AD13AFBA}"/>
              </a:ext>
            </a:extLst>
          </p:cNvPr>
          <p:cNvSpPr>
            <a:spLocks noGrp="1"/>
          </p:cNvSpPr>
          <p:nvPr/>
        </p:nvSpPr>
        <p:spPr>
          <a:xfrm>
            <a:off x="9144000" y="22669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Issue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F3794B-9D9B-4CEA-B231-D0D0E404E5FF}"/>
              </a:ext>
            </a:extLst>
          </p:cNvPr>
          <p:cNvSpPr>
            <a:spLocks noGrp="1"/>
          </p:cNvSpPr>
          <p:nvPr/>
        </p:nvSpPr>
        <p:spPr>
          <a:xfrm>
            <a:off x="9677400" y="278130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5CFCB9-6A65-4055-ACD5-11608A66A4AF}"/>
              </a:ext>
            </a:extLst>
          </p:cNvPr>
          <p:cNvSpPr>
            <a:spLocks noGrp="1"/>
          </p:cNvSpPr>
          <p:nvPr/>
        </p:nvSpPr>
        <p:spPr>
          <a:xfrm>
            <a:off x="9029700" y="3295650"/>
            <a:ext cx="1866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Commit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578535-9252-4AA3-9841-12BFF8182271}"/>
              </a:ext>
            </a:extLst>
          </p:cNvPr>
          <p:cNvSpPr>
            <a:spLocks noGrp="1"/>
          </p:cNvSpPr>
          <p:nvPr/>
        </p:nvSpPr>
        <p:spPr>
          <a:xfrm>
            <a:off x="9677400" y="3810000"/>
            <a:ext cx="571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sz="24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6AC9D8-9AF6-4CD3-9200-35B0CBF7DD26}"/>
              </a:ext>
            </a:extLst>
          </p:cNvPr>
          <p:cNvSpPr>
            <a:spLocks noGrp="1"/>
          </p:cNvSpPr>
          <p:nvPr/>
        </p:nvSpPr>
        <p:spPr>
          <a:xfrm>
            <a:off x="9010650" y="4324350"/>
            <a:ext cx="1885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Fichiers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D37276-01D9-4FBB-8996-C9616A98EB4D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4EF3F7-8D9E-4A95-9A69-ABECBD4E0A95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967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D76A4AC-DBB3-4051-9DDA-D6105118FDB2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F7430A-450F-4812-B966-4A6AD0D33ACD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Message exécutif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278BD5-3434-4EA1-89C1-C1FC07DC70D1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E42505-0D5F-4A06-ACBC-51FF63EF7F4D}"/>
              </a:ext>
            </a:extLst>
          </p:cNvPr>
          <p:cNvSpPr>
            <a:spLocks noGrp="1"/>
          </p:cNvSpPr>
          <p:nvPr/>
        </p:nvSpPr>
        <p:spPr>
          <a:xfrm>
            <a:off x="552450" y="1981200"/>
            <a:ext cx="1028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Creo VCS transforme un dossier projet dispersé en un système de pilotage technique: chaque modification, problème, fichier natif et export d'ingénierie devient traçable.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0F25CB-5B4A-4918-8FE9-E636EF422191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3333750" cy="120015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E58F9C-6214-409F-8D2B-D28365AF2B28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57150" cy="1200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DB92B-8E69-4D67-9A03-8A4E3ED39E75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1 chaîne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C30762-2D4D-490E-A8C8-50EB4309B7B8}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Traçabilité complète: problème → décision → fichier → version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775912-BDA9-400F-B750-A98BFDF10541}"/>
              </a:ext>
            </a:extLst>
          </p:cNvPr>
          <p:cNvSpPr>
            <a:spLocks noGrp="1"/>
          </p:cNvSpPr>
          <p:nvPr/>
        </p:nvSpPr>
        <p:spPr>
          <a:xfrm>
            <a:off x="4429125" y="3143250"/>
            <a:ext cx="3333750" cy="120015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EE9DC0-B83C-448F-A109-8989448A4D08}"/>
              </a:ext>
            </a:extLst>
          </p:cNvPr>
          <p:cNvSpPr>
            <a:spLocks noGrp="1"/>
          </p:cNvSpPr>
          <p:nvPr/>
        </p:nvSpPr>
        <p:spPr>
          <a:xfrm>
            <a:off x="4429125" y="3143250"/>
            <a:ext cx="57150" cy="12001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B44B39-3646-4E14-9D81-33B5537F12FA}"/>
              </a:ext>
            </a:extLst>
          </p:cNvPr>
          <p:cNvSpPr>
            <a:spLocks noGrp="1"/>
          </p:cNvSpPr>
          <p:nvPr/>
        </p:nvSpPr>
        <p:spPr>
          <a:xfrm>
            <a:off x="4638675" y="335280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Moins d'erreurs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34AA42-447F-4C54-AC07-6D0D78AFAEA6}"/>
              </a:ext>
            </a:extLst>
          </p:cNvPr>
          <p:cNvSpPr>
            <a:spLocks noGrp="1"/>
          </p:cNvSpPr>
          <p:nvPr/>
        </p:nvSpPr>
        <p:spPr>
          <a:xfrm>
            <a:off x="4638675" y="38481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Réduction du risque de travailler sur la mauvaise version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9F6F8C-75E5-401F-99E9-089A9C852CD1}"/>
              </a:ext>
            </a:extLst>
          </p:cNvPr>
          <p:cNvSpPr>
            <a:spLocks noGrp="1"/>
          </p:cNvSpPr>
          <p:nvPr/>
        </p:nvSpPr>
        <p:spPr>
          <a:xfrm>
            <a:off x="8305800" y="3143250"/>
            <a:ext cx="3333750" cy="120015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9B6F2F-A056-4AB2-9235-ED10188F289A}"/>
              </a:ext>
            </a:extLst>
          </p:cNvPr>
          <p:cNvSpPr>
            <a:spLocks noGrp="1"/>
          </p:cNvSpPr>
          <p:nvPr/>
        </p:nvSpPr>
        <p:spPr>
          <a:xfrm>
            <a:off x="8305800" y="3143250"/>
            <a:ext cx="57150" cy="12001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89E1F3-005F-4725-AF02-C73B05D7927F}"/>
              </a:ext>
            </a:extLst>
          </p:cNvPr>
          <p:cNvSpPr>
            <a:spLocks noGrp="1"/>
          </p:cNvSpPr>
          <p:nvPr/>
        </p:nvSpPr>
        <p:spPr>
          <a:xfrm>
            <a:off x="8515350" y="335280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Plus clair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B762BD-139B-40A3-AA0F-98707169AEF4}"/>
              </a:ext>
            </a:extLst>
          </p:cNvPr>
          <p:cNvSpPr>
            <a:spLocks noGrp="1"/>
          </p:cNvSpPr>
          <p:nvPr/>
        </p:nvSpPr>
        <p:spPr>
          <a:xfrm>
            <a:off x="8515350" y="38481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Base factuelle pour les revues, audits et arbitrages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BF6EAC-7711-41A1-8248-ABA045FA6BD2}"/>
              </a:ext>
            </a:extLst>
          </p:cNvPr>
          <p:cNvSpPr>
            <a:spLocks noGrp="1"/>
          </p:cNvSpPr>
          <p:nvPr/>
        </p:nvSpPr>
        <p:spPr>
          <a:xfrm>
            <a:off x="552450" y="4876800"/>
            <a:ext cx="942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86174"/>
                </a:solidFill>
              </a:defRPr>
            </a:pPr>
            <a:r>
              <a:rPr sz="1800" b="0">
                <a:solidFill>
                  <a:srgbClr val="586174"/>
                </a:solidFill>
              </a:rPr>
              <a:t>Ce n'est pas seulement un outil de stockage: c'est une couche de gouvernance opérationnelle pour l'équipe mécanique.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1EB398-11A4-4368-8E89-58915EDC66BE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5DF348-3B9E-4968-BDCE-25B95D068419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4899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0EF65FF-89E4-4914-912D-EE92C2E615E9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F8E65D-1A15-4369-A491-AD37C661A05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Les limites du fonctionnement actuel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D65662-17EC-4021-A95E-7D14CED8C053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A3A419-025A-401B-A998-33632F264B78}"/>
              </a:ext>
            </a:extLst>
          </p:cNvPr>
          <p:cNvSpPr>
            <a:spLocks noGrp="1"/>
          </p:cNvSpPr>
          <p:nvPr/>
        </p:nvSpPr>
        <p:spPr>
          <a:xfrm>
            <a:off x="552450" y="2057400"/>
            <a:ext cx="3333750" cy="32385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7AF7F0-78D5-4A7B-8F71-84E2B07527CE}"/>
              </a:ext>
            </a:extLst>
          </p:cNvPr>
          <p:cNvSpPr>
            <a:spLocks noGrp="1"/>
          </p:cNvSpPr>
          <p:nvPr/>
        </p:nvSpPr>
        <p:spPr>
          <a:xfrm>
            <a:off x="4429125" y="2057400"/>
            <a:ext cx="3333750" cy="32385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E2CD45-F76D-4E10-BAE4-E4483ECE2CA3}"/>
              </a:ext>
            </a:extLst>
          </p:cNvPr>
          <p:cNvSpPr>
            <a:spLocks noGrp="1"/>
          </p:cNvSpPr>
          <p:nvPr/>
        </p:nvSpPr>
        <p:spPr>
          <a:xfrm>
            <a:off x="8305800" y="2057400"/>
            <a:ext cx="3333750" cy="32385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DE509-F514-4058-86F0-3A69D6EF305B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Versioning fragile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FF148C-0B15-4B75-ABCE-021166FE7F6F}"/>
              </a:ext>
            </a:extLst>
          </p:cNvPr>
          <p:cNvSpPr>
            <a:spLocks noGrp="1"/>
          </p:cNvSpPr>
          <p:nvPr/>
        </p:nvSpPr>
        <p:spPr>
          <a:xfrm>
            <a:off x="819150" y="29813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1A7971-32CD-4D52-B83F-EAA29C21694E}"/>
              </a:ext>
            </a:extLst>
          </p:cNvPr>
          <p:cNvSpPr>
            <a:spLocks noGrp="1"/>
          </p:cNvSpPr>
          <p:nvPr/>
        </p:nvSpPr>
        <p:spPr>
          <a:xfrm>
            <a:off x="1104900" y="29718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Fichiers copiés ou renommés manuellement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BF0B0-2D09-4E60-8B74-A051ADCB63D1}"/>
              </a:ext>
            </a:extLst>
          </p:cNvPr>
          <p:cNvSpPr>
            <a:spLocks noGrp="1"/>
          </p:cNvSpPr>
          <p:nvPr/>
        </p:nvSpPr>
        <p:spPr>
          <a:xfrm>
            <a:off x="819150" y="34385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420DF-D3F6-47DF-ACB1-B646B366C6DA}"/>
              </a:ext>
            </a:extLst>
          </p:cNvPr>
          <p:cNvSpPr>
            <a:spLocks noGrp="1"/>
          </p:cNvSpPr>
          <p:nvPr/>
        </p:nvSpPr>
        <p:spPr>
          <a:xfrm>
            <a:off x="1104900" y="34290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Difficulté à savoir quelle version est validée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3D1C45-F76F-4137-8B5C-A25A88BA5574}"/>
              </a:ext>
            </a:extLst>
          </p:cNvPr>
          <p:cNvSpPr>
            <a:spLocks noGrp="1"/>
          </p:cNvSpPr>
          <p:nvPr/>
        </p:nvSpPr>
        <p:spPr>
          <a:xfrm>
            <a:off x="819150" y="38957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819AFF-1613-45C0-A9C4-075E0DE92187}"/>
              </a:ext>
            </a:extLst>
          </p:cNvPr>
          <p:cNvSpPr>
            <a:spLocks noGrp="1"/>
          </p:cNvSpPr>
          <p:nvPr/>
        </p:nvSpPr>
        <p:spPr>
          <a:xfrm>
            <a:off x="1104900" y="38862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Risque de confusion entre PRD/ASM/DRW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0A9642-197A-41C2-A8BA-2688AF24F454}"/>
              </a:ext>
            </a:extLst>
          </p:cNvPr>
          <p:cNvSpPr>
            <a:spLocks noGrp="1"/>
          </p:cNvSpPr>
          <p:nvPr/>
        </p:nvSpPr>
        <p:spPr>
          <a:xfrm>
            <a:off x="4695825" y="2381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Traçabilité dispersée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1006F9-9D82-47D0-9259-D25FD4F63ED1}"/>
              </a:ext>
            </a:extLst>
          </p:cNvPr>
          <p:cNvSpPr>
            <a:spLocks noGrp="1"/>
          </p:cNvSpPr>
          <p:nvPr/>
        </p:nvSpPr>
        <p:spPr>
          <a:xfrm>
            <a:off x="4695825" y="29813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D1DBD-5DE6-4A4C-BDB4-D18E57EC76CB}"/>
              </a:ext>
            </a:extLst>
          </p:cNvPr>
          <p:cNvSpPr>
            <a:spLocks noGrp="1"/>
          </p:cNvSpPr>
          <p:nvPr/>
        </p:nvSpPr>
        <p:spPr>
          <a:xfrm>
            <a:off x="4981575" y="29718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Issues, emails, exports et fichiers séparés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3FDE35-2338-4A37-9176-CF31D1C52F88}"/>
              </a:ext>
            </a:extLst>
          </p:cNvPr>
          <p:cNvSpPr>
            <a:spLocks noGrp="1"/>
          </p:cNvSpPr>
          <p:nvPr/>
        </p:nvSpPr>
        <p:spPr>
          <a:xfrm>
            <a:off x="4695825" y="34385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1F1059-56A0-4DC5-9154-8F3F506F4FB3}"/>
              </a:ext>
            </a:extLst>
          </p:cNvPr>
          <p:cNvSpPr>
            <a:spLocks noGrp="1"/>
          </p:cNvSpPr>
          <p:nvPr/>
        </p:nvSpPr>
        <p:spPr>
          <a:xfrm>
            <a:off x="4981575" y="34290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Lien faible entre décision et modification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62BB28-FA35-49C4-AC82-08709549B57A}"/>
              </a:ext>
            </a:extLst>
          </p:cNvPr>
          <p:cNvSpPr>
            <a:spLocks noGrp="1"/>
          </p:cNvSpPr>
          <p:nvPr/>
        </p:nvSpPr>
        <p:spPr>
          <a:xfrm>
            <a:off x="4695825" y="38957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FA8F6D-DD1B-4D66-8E00-DE05FE880E48}"/>
              </a:ext>
            </a:extLst>
          </p:cNvPr>
          <p:cNvSpPr>
            <a:spLocks noGrp="1"/>
          </p:cNvSpPr>
          <p:nvPr/>
        </p:nvSpPr>
        <p:spPr>
          <a:xfrm>
            <a:off x="4981575" y="38862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Historique difficile à reconstruire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869485-534A-4B23-B430-E6407BEEDB61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Pilotage incomplet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FE141B-77AF-4853-A402-9BAB98729A33}"/>
              </a:ext>
            </a:extLst>
          </p:cNvPr>
          <p:cNvSpPr>
            <a:spLocks noGrp="1"/>
          </p:cNvSpPr>
          <p:nvPr/>
        </p:nvSpPr>
        <p:spPr>
          <a:xfrm>
            <a:off x="8572500" y="29813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F4D7EA-FC4E-4010-AC14-5BC6A9394F56}"/>
              </a:ext>
            </a:extLst>
          </p:cNvPr>
          <p:cNvSpPr>
            <a:spLocks noGrp="1"/>
          </p:cNvSpPr>
          <p:nvPr/>
        </p:nvSpPr>
        <p:spPr>
          <a:xfrm>
            <a:off x="8858250" y="29718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Peu de visibilité sur ce qui bloque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A7FD34-573F-4E41-9818-7A319591CFD9}"/>
              </a:ext>
            </a:extLst>
          </p:cNvPr>
          <p:cNvSpPr>
            <a:spLocks noGrp="1"/>
          </p:cNvSpPr>
          <p:nvPr/>
        </p:nvSpPr>
        <p:spPr>
          <a:xfrm>
            <a:off x="8572500" y="34385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C83959E-C578-4636-899E-870CFB41618F}"/>
              </a:ext>
            </a:extLst>
          </p:cNvPr>
          <p:cNvSpPr>
            <a:spLocks noGrp="1"/>
          </p:cNvSpPr>
          <p:nvPr/>
        </p:nvSpPr>
        <p:spPr>
          <a:xfrm>
            <a:off x="8858250" y="34290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Audits et revues longs à préparer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D1C23A-03E7-4E67-8542-66B0B036BE72}"/>
              </a:ext>
            </a:extLst>
          </p:cNvPr>
          <p:cNvSpPr>
            <a:spLocks noGrp="1"/>
          </p:cNvSpPr>
          <p:nvPr/>
        </p:nvSpPr>
        <p:spPr>
          <a:xfrm>
            <a:off x="8572500" y="38957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E8511C-CDBF-4D8A-B302-38AB1C27F8AB}"/>
              </a:ext>
            </a:extLst>
          </p:cNvPr>
          <p:cNvSpPr>
            <a:spLocks noGrp="1"/>
          </p:cNvSpPr>
          <p:nvPr/>
        </p:nvSpPr>
        <p:spPr>
          <a:xfrm>
            <a:off x="8858250" y="3886200"/>
            <a:ext cx="2438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Dépendance aux personnes clés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09221C-74E9-4D41-97EB-1BF7B947560F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439F81-19FC-4B49-871B-366BC5A0EFD1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4664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E18F0EF-1ED3-4E3B-AB48-53B417B77523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366382-51BE-4F4F-B617-4120EDD05AFC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La valeur ajoutée pour l'entreprise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6B9EF1-FDB2-4FC4-9FDD-FF76D588BA89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0A09A9-87DC-4449-BEAB-65002419ECCB}"/>
              </a:ext>
            </a:extLst>
          </p:cNvPr>
          <p:cNvSpPr>
            <a:spLocks noGrp="1"/>
          </p:cNvSpPr>
          <p:nvPr/>
        </p:nvSpPr>
        <p:spPr>
          <a:xfrm>
            <a:off x="552450" y="2000250"/>
            <a:ext cx="933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1220"/>
                </a:solidFill>
              </a:defRPr>
            </a:pPr>
            <a:r>
              <a:rPr sz="2100" b="1">
                <a:solidFill>
                  <a:srgbClr val="0B1220"/>
                </a:solidFill>
              </a:rPr>
              <a:t>La valeur de Creo VCS est de rendre le travail mécanique vérifiable, partageable et pilotable.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C3A138-1894-4F39-A180-801FD84D9B14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3333750" cy="120015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D07C2-15B4-45C5-88F8-BD514D7F54D0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57150" cy="12001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0C0E35-0567-4803-8AF9-C96255B5F12D}"/>
              </a:ext>
            </a:extLst>
          </p:cNvPr>
          <p:cNvSpPr>
            <a:spLocks noGrp="1"/>
          </p:cNvSpPr>
          <p:nvPr/>
        </p:nvSpPr>
        <p:spPr>
          <a:xfrm>
            <a:off x="762000" y="316230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Maîtrise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07FD25-E449-4730-A62C-99CC13669B58}"/>
              </a:ext>
            </a:extLst>
          </p:cNvPr>
          <p:cNvSpPr>
            <a:spLocks noGrp="1"/>
          </p:cNvSpPr>
          <p:nvPr/>
        </p:nvSpPr>
        <p:spPr>
          <a:xfrm>
            <a:off x="762000" y="36576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Qualité: chaque correction est reliée à un problème et à une preuve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6B09C-F0AF-4F4B-B2CA-6F41FACDC881}"/>
              </a:ext>
            </a:extLst>
          </p:cNvPr>
          <p:cNvSpPr>
            <a:spLocks noGrp="1"/>
          </p:cNvSpPr>
          <p:nvPr/>
        </p:nvSpPr>
        <p:spPr>
          <a:xfrm>
            <a:off x="4429125" y="2952750"/>
            <a:ext cx="3333750" cy="120015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B19261-0E53-48F7-AB09-8D89F0FC2B3A}"/>
              </a:ext>
            </a:extLst>
          </p:cNvPr>
          <p:cNvSpPr>
            <a:spLocks noGrp="1"/>
          </p:cNvSpPr>
          <p:nvPr/>
        </p:nvSpPr>
        <p:spPr>
          <a:xfrm>
            <a:off x="4429125" y="2952750"/>
            <a:ext cx="57150" cy="1200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DBF5D4-9960-469A-BB9E-F144600FA347}"/>
              </a:ext>
            </a:extLst>
          </p:cNvPr>
          <p:cNvSpPr>
            <a:spLocks noGrp="1"/>
          </p:cNvSpPr>
          <p:nvPr/>
        </p:nvSpPr>
        <p:spPr>
          <a:xfrm>
            <a:off x="4638675" y="316230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Vitesse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4D3512-4624-402F-8110-E4C92DA112BE}"/>
              </a:ext>
            </a:extLst>
          </p:cNvPr>
          <p:cNvSpPr>
            <a:spLocks noGrp="1"/>
          </p:cNvSpPr>
          <p:nvPr/>
        </p:nvSpPr>
        <p:spPr>
          <a:xfrm>
            <a:off x="4638675" y="36576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Délais: moins de recherche manuelle, moins de reprises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433B43-8799-440C-BE3D-C1FADF075535}"/>
              </a:ext>
            </a:extLst>
          </p:cNvPr>
          <p:cNvSpPr>
            <a:spLocks noGrp="1"/>
          </p:cNvSpPr>
          <p:nvPr/>
        </p:nvSpPr>
        <p:spPr>
          <a:xfrm>
            <a:off x="8305800" y="2952750"/>
            <a:ext cx="3333750" cy="120015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75ED3A-D753-4821-AB74-F42D2D790061}"/>
              </a:ext>
            </a:extLst>
          </p:cNvPr>
          <p:cNvSpPr>
            <a:spLocks noGrp="1"/>
          </p:cNvSpPr>
          <p:nvPr/>
        </p:nvSpPr>
        <p:spPr>
          <a:xfrm>
            <a:off x="8305800" y="2952750"/>
            <a:ext cx="57150" cy="12001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370A40-79D2-4C36-B68C-A84578BAAD5D}"/>
              </a:ext>
            </a:extLst>
          </p:cNvPr>
          <p:cNvSpPr>
            <a:spLocks noGrp="1"/>
          </p:cNvSpPr>
          <p:nvPr/>
        </p:nvSpPr>
        <p:spPr>
          <a:xfrm>
            <a:off x="8515350" y="316230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Pilotage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66558E-F19A-4736-AE91-C43032E01D54}"/>
              </a:ext>
            </a:extLst>
          </p:cNvPr>
          <p:cNvSpPr>
            <a:spLocks noGrp="1"/>
          </p:cNvSpPr>
          <p:nvPr/>
        </p:nvSpPr>
        <p:spPr>
          <a:xfrm>
            <a:off x="8515350" y="36576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Management: vision claire des statuts, décisions, responsabilités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2ED679-1C4E-4F29-84F5-8A783425C016}"/>
              </a:ext>
            </a:extLst>
          </p:cNvPr>
          <p:cNvSpPr>
            <a:spLocks noGrp="1"/>
          </p:cNvSpPr>
          <p:nvPr/>
        </p:nvSpPr>
        <p:spPr>
          <a:xfrm>
            <a:off x="742950" y="49625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D43E84-7BFE-4586-8780-BD98F53E7E55}"/>
              </a:ext>
            </a:extLst>
          </p:cNvPr>
          <p:cNvSpPr>
            <a:spLocks noGrp="1"/>
          </p:cNvSpPr>
          <p:nvPr/>
        </p:nvSpPr>
        <p:spPr>
          <a:xfrm>
            <a:off x="1028700" y="4953000"/>
            <a:ext cx="962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Standardise la manière de travailler sans casser l'usage Creo existant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80C6D1-5BBA-46B6-81E3-F9568004D0DD}"/>
              </a:ext>
            </a:extLst>
          </p:cNvPr>
          <p:cNvSpPr>
            <a:spLocks noGrp="1"/>
          </p:cNvSpPr>
          <p:nvPr/>
        </p:nvSpPr>
        <p:spPr>
          <a:xfrm>
            <a:off x="742950" y="53054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9FCD15-06A5-46E2-A18D-D7A814B1D543}"/>
              </a:ext>
            </a:extLst>
          </p:cNvPr>
          <p:cNvSpPr>
            <a:spLocks noGrp="1"/>
          </p:cNvSpPr>
          <p:nvPr/>
        </p:nvSpPr>
        <p:spPr>
          <a:xfrm>
            <a:off x="1028700" y="5295900"/>
            <a:ext cx="962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Crée une mémoire technique projet exploitable après les départs, audits ou relances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B5B770-2289-425A-AB4B-39B682A5ACE0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F9A8EB-E035-4018-9E50-609D00DDF0A8}"/>
              </a:ext>
            </a:extLst>
          </p:cNvPr>
          <p:cNvSpPr>
            <a:spLocks noGrp="1"/>
          </p:cNvSpPr>
          <p:nvPr/>
        </p:nvSpPr>
        <p:spPr>
          <a:xfrm>
            <a:off x="1028700" y="5638800"/>
            <a:ext cx="962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Prépare l'intégration future avec Jira, SQL Server/PostgreSQL et reporting avancé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CB95F3-8522-4AC4-B0F6-1C16880D52EA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319CD1-71E1-451F-9164-5EBC72E6756D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8620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A0BA3AD-469D-4D38-BB27-69F8FD513EDC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28B90F-6AFF-482E-B390-6C84F1476EC9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Ce que fait Creo VCS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F391D1-4B21-493C-8C8D-2100DB71A4BC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4A6E4F-4F8E-4A07-81E1-18D9D96581AD}"/>
              </a:ext>
            </a:extLst>
          </p:cNvPr>
          <p:cNvSpPr>
            <a:spLocks noGrp="1"/>
          </p:cNvSpPr>
          <p:nvPr/>
        </p:nvSpPr>
        <p:spPr>
          <a:xfrm>
            <a:off x="552450" y="2076450"/>
            <a:ext cx="3333750" cy="1162050"/>
          </a:xfrm>
          <a:prstGeom prst="rect">
            <a:avLst/>
          </a:prstGeom>
          <a:solidFill>
            <a:srgbClr val="F3F5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246E74-D5A1-47AF-A2E3-DD625F6171E1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 dirty="0">
                <a:solidFill>
                  <a:srgbClr val="0B1220"/>
                </a:solidFill>
              </a:rPr>
              <a:t>BOM &amp; </a:t>
            </a:r>
            <a:r>
              <a:rPr sz="1650" b="1" dirty="0" err="1">
                <a:solidFill>
                  <a:srgbClr val="0B1220"/>
                </a:solidFill>
              </a:rPr>
              <a:t>fichiers</a:t>
            </a:r>
            <a:endParaRPr sz="1650" b="1" dirty="0">
              <a:solidFill>
                <a:srgbClr val="0B122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FE6DD-1DBE-426F-8B22-2C4E6EBD50F3}"/>
              </a:ext>
            </a:extLst>
          </p:cNvPr>
          <p:cNvSpPr>
            <a:spLocks noGrp="1"/>
          </p:cNvSpPr>
          <p:nvPr/>
        </p:nvSpPr>
        <p:spPr>
          <a:xfrm>
            <a:off x="762000" y="26289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Structure produit, pièces, assemblages, dessins et fichiers associés.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654895-8276-4F0F-A2CF-6D510D30918A}"/>
              </a:ext>
            </a:extLst>
          </p:cNvPr>
          <p:cNvSpPr>
            <a:spLocks noGrp="1"/>
          </p:cNvSpPr>
          <p:nvPr/>
        </p:nvSpPr>
        <p:spPr>
          <a:xfrm>
            <a:off x="4429125" y="2076450"/>
            <a:ext cx="33337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A87AB8-1B72-4C1A-A1FE-36B4CAF3C9C9}"/>
              </a:ext>
            </a:extLst>
          </p:cNvPr>
          <p:cNvSpPr>
            <a:spLocks noGrp="1"/>
          </p:cNvSpPr>
          <p:nvPr/>
        </p:nvSpPr>
        <p:spPr>
          <a:xfrm>
            <a:off x="4638675" y="2286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Commit / validation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A27D41-05C3-40D5-B0DF-550D3E68707F}"/>
              </a:ext>
            </a:extLst>
          </p:cNvPr>
          <p:cNvSpPr>
            <a:spLocks noGrp="1"/>
          </p:cNvSpPr>
          <p:nvPr/>
        </p:nvSpPr>
        <p:spPr>
          <a:xfrm>
            <a:off x="4638675" y="26289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Création de versions, validation, restauration et historique groupé.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81F257-AE5F-4729-A1FC-E76F64C5B7C2}"/>
              </a:ext>
            </a:extLst>
          </p:cNvPr>
          <p:cNvSpPr>
            <a:spLocks noGrp="1"/>
          </p:cNvSpPr>
          <p:nvPr/>
        </p:nvSpPr>
        <p:spPr>
          <a:xfrm>
            <a:off x="8305800" y="2076450"/>
            <a:ext cx="3333750" cy="1162050"/>
          </a:xfrm>
          <a:prstGeom prst="rect">
            <a:avLst/>
          </a:prstGeom>
          <a:solidFill>
            <a:srgbClr val="F3F5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48E3AE-8FCD-4F34-B5C1-48C58D9F0E4F}"/>
              </a:ext>
            </a:extLst>
          </p:cNvPr>
          <p:cNvSpPr>
            <a:spLocks noGrp="1"/>
          </p:cNvSpPr>
          <p:nvPr/>
        </p:nvSpPr>
        <p:spPr>
          <a:xfrm>
            <a:off x="8515350" y="22860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Issues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B433C8-72D9-4BA8-97D6-1FF40AAD1268}"/>
              </a:ext>
            </a:extLst>
          </p:cNvPr>
          <p:cNvSpPr>
            <a:spLocks noGrp="1"/>
          </p:cNvSpPr>
          <p:nvPr/>
        </p:nvSpPr>
        <p:spPr>
          <a:xfrm>
            <a:off x="8515350" y="26289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Suivi des problèmes, assignation, statut, historique et résolution.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035C98-ACC5-4A9C-A924-400CDBA523CA}"/>
              </a:ext>
            </a:extLst>
          </p:cNvPr>
          <p:cNvSpPr>
            <a:spLocks noGrp="1"/>
          </p:cNvSpPr>
          <p:nvPr/>
        </p:nvSpPr>
        <p:spPr>
          <a:xfrm>
            <a:off x="552450" y="3695700"/>
            <a:ext cx="33337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64A5E9-BF73-417A-8327-1C17440686B9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Traceability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FAF9F1-B948-4404-AB0C-F942BE8139CE}"/>
              </a:ext>
            </a:extLst>
          </p:cNvPr>
          <p:cNvSpPr>
            <a:spLocks noGrp="1"/>
          </p:cNvSpPr>
          <p:nvPr/>
        </p:nvSpPr>
        <p:spPr>
          <a:xfrm>
            <a:off x="762000" y="42481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Liens entre issue, commit, fichier natif, PDF, STEP, rapport et Jira.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4DA1C9-AC35-4AE3-87CA-9455607EBB7D}"/>
              </a:ext>
            </a:extLst>
          </p:cNvPr>
          <p:cNvSpPr>
            <a:spLocks noGrp="1"/>
          </p:cNvSpPr>
          <p:nvPr/>
        </p:nvSpPr>
        <p:spPr>
          <a:xfrm>
            <a:off x="4429125" y="3695700"/>
            <a:ext cx="3333750" cy="1162050"/>
          </a:xfrm>
          <a:prstGeom prst="rect">
            <a:avLst/>
          </a:prstGeom>
          <a:solidFill>
            <a:srgbClr val="F3F5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E3A428-88C2-432E-AFD6-03CD52A94632}"/>
              </a:ext>
            </a:extLst>
          </p:cNvPr>
          <p:cNvSpPr>
            <a:spLocks noGrp="1"/>
          </p:cNvSpPr>
          <p:nvPr/>
        </p:nvSpPr>
        <p:spPr>
          <a:xfrm>
            <a:off x="4638675" y="3905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Export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5C8962-0618-4E9F-B078-227962F52FFC}"/>
              </a:ext>
            </a:extLst>
          </p:cNvPr>
          <p:cNvSpPr>
            <a:spLocks noGrp="1"/>
          </p:cNvSpPr>
          <p:nvPr/>
        </p:nvSpPr>
        <p:spPr>
          <a:xfrm>
            <a:off x="4638675" y="42481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Package complet pour revue: Excel, pièces jointes, exports et preuves.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BEFBD9-906C-489D-8CCF-4D18906ED80D}"/>
              </a:ext>
            </a:extLst>
          </p:cNvPr>
          <p:cNvSpPr>
            <a:spLocks noGrp="1"/>
          </p:cNvSpPr>
          <p:nvPr/>
        </p:nvSpPr>
        <p:spPr>
          <a:xfrm>
            <a:off x="8305800" y="3695700"/>
            <a:ext cx="333375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227E80-A60A-43EB-B333-9F9DD1A3FC07}"/>
              </a:ext>
            </a:extLst>
          </p:cNvPr>
          <p:cNvSpPr>
            <a:spLocks noGrp="1"/>
          </p:cNvSpPr>
          <p:nvPr/>
        </p:nvSpPr>
        <p:spPr>
          <a:xfrm>
            <a:off x="8515350" y="3905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Administration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A725B4-25FD-4F5B-B446-D45CDAC9794B}"/>
              </a:ext>
            </a:extLst>
          </p:cNvPr>
          <p:cNvSpPr>
            <a:spLocks noGrp="1"/>
          </p:cNvSpPr>
          <p:nvPr/>
        </p:nvSpPr>
        <p:spPr>
          <a:xfrm>
            <a:off x="8515350" y="42481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Utilisateurs, rôles, projets, configuration, métadonnées et licences.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FE7C82-C75C-4E00-9C29-7F080C556F97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3ADA63-7C8F-4AB5-9F7F-6F2D5B2C8C29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0577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B5F13C2-FF6F-4C73-B391-38C8F61BD775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30A56A-C3C5-48A9-A8C6-6233999415B9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Chaîne de traçabilité cible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1DFEF9-6909-469D-A943-F25D8ACD6961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055E1E-A013-49E3-B367-2D45B444A7C3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1524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E42C60-B47F-41C7-9DB4-C7FEB047EB03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1524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DF9EE8-C611-4D0A-8680-5EEB7630D9D2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Jira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13537E-02AE-4034-ACDB-71FD75BDA85D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Ticket externe optionnel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A5A39C-522A-4311-9734-F4852C3841CE}"/>
              </a:ext>
            </a:extLst>
          </p:cNvPr>
          <p:cNvSpPr>
            <a:spLocks noGrp="1"/>
          </p:cNvSpPr>
          <p:nvPr/>
        </p:nvSpPr>
        <p:spPr>
          <a:xfrm>
            <a:off x="2152650" y="29908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DBFBBB-0319-42B6-8800-BF48F5D433A2}"/>
              </a:ext>
            </a:extLst>
          </p:cNvPr>
          <p:cNvSpPr>
            <a:spLocks noGrp="1"/>
          </p:cNvSpPr>
          <p:nvPr/>
        </p:nvSpPr>
        <p:spPr>
          <a:xfrm>
            <a:off x="2438400" y="2571750"/>
            <a:ext cx="1524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D87809-ED08-4000-9C6D-4F0153B3D480}"/>
              </a:ext>
            </a:extLst>
          </p:cNvPr>
          <p:cNvSpPr>
            <a:spLocks noGrp="1"/>
          </p:cNvSpPr>
          <p:nvPr/>
        </p:nvSpPr>
        <p:spPr>
          <a:xfrm>
            <a:off x="2438400" y="2571750"/>
            <a:ext cx="1524000" cy="47625"/>
          </a:xfrm>
          <a:prstGeom prst="rect">
            <a:avLst/>
          </a:prstGeom>
          <a:solidFill>
            <a:srgbClr val="F97316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1468E7-1C21-4856-BFA1-73600223CD6A}"/>
              </a:ext>
            </a:extLst>
          </p:cNvPr>
          <p:cNvSpPr>
            <a:spLocks noGrp="1"/>
          </p:cNvSpPr>
          <p:nvPr/>
        </p:nvSpPr>
        <p:spPr>
          <a:xfrm>
            <a:off x="2571750" y="28384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Issue interne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DC1262-B0D0-477E-B953-133552597495}"/>
              </a:ext>
            </a:extLst>
          </p:cNvPr>
          <p:cNvSpPr>
            <a:spLocks noGrp="1"/>
          </p:cNvSpPr>
          <p:nvPr/>
        </p:nvSpPr>
        <p:spPr>
          <a:xfrm>
            <a:off x="2571750" y="31813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Source locale de vérité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62DA70-BD80-4DA5-A473-51008577F000}"/>
              </a:ext>
            </a:extLst>
          </p:cNvPr>
          <p:cNvSpPr>
            <a:spLocks noGrp="1"/>
          </p:cNvSpPr>
          <p:nvPr/>
        </p:nvSpPr>
        <p:spPr>
          <a:xfrm>
            <a:off x="4038600" y="29908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AFB4BE-F740-42EC-9C54-5068D549B217}"/>
              </a:ext>
            </a:extLst>
          </p:cNvPr>
          <p:cNvSpPr>
            <a:spLocks noGrp="1"/>
          </p:cNvSpPr>
          <p:nvPr/>
        </p:nvSpPr>
        <p:spPr>
          <a:xfrm>
            <a:off x="4324350" y="2571750"/>
            <a:ext cx="1524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7FFCA1-02C4-4294-8B89-751ABC11CD16}"/>
              </a:ext>
            </a:extLst>
          </p:cNvPr>
          <p:cNvSpPr>
            <a:spLocks noGrp="1"/>
          </p:cNvSpPr>
          <p:nvPr/>
        </p:nvSpPr>
        <p:spPr>
          <a:xfrm>
            <a:off x="4324350" y="2571750"/>
            <a:ext cx="1524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C8F423-CD2A-4A13-B9A3-6CCFD4B273BC}"/>
              </a:ext>
            </a:extLst>
          </p:cNvPr>
          <p:cNvSpPr>
            <a:spLocks noGrp="1"/>
          </p:cNvSpPr>
          <p:nvPr/>
        </p:nvSpPr>
        <p:spPr>
          <a:xfrm>
            <a:off x="4457700" y="28384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Fichiers Creo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19BD6E-74DA-4C44-9CFB-629D4D32DD01}"/>
              </a:ext>
            </a:extLst>
          </p:cNvPr>
          <p:cNvSpPr>
            <a:spLocks noGrp="1"/>
          </p:cNvSpPr>
          <p:nvPr/>
        </p:nvSpPr>
        <p:spPr>
          <a:xfrm>
            <a:off x="4457700" y="31813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.prt / .asm / .drw affectés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2E89BD-35E7-4D5B-B517-7521955088F5}"/>
              </a:ext>
            </a:extLst>
          </p:cNvPr>
          <p:cNvSpPr>
            <a:spLocks noGrp="1"/>
          </p:cNvSpPr>
          <p:nvPr/>
        </p:nvSpPr>
        <p:spPr>
          <a:xfrm>
            <a:off x="5924550" y="29908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90E2BD-F304-49AE-80D5-050EECFC77A1}"/>
              </a:ext>
            </a:extLst>
          </p:cNvPr>
          <p:cNvSpPr>
            <a:spLocks noGrp="1"/>
          </p:cNvSpPr>
          <p:nvPr/>
        </p:nvSpPr>
        <p:spPr>
          <a:xfrm>
            <a:off x="6210300" y="2571750"/>
            <a:ext cx="1524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64EA3A-DE74-4181-B35D-05A294EED624}"/>
              </a:ext>
            </a:extLst>
          </p:cNvPr>
          <p:cNvSpPr>
            <a:spLocks noGrp="1"/>
          </p:cNvSpPr>
          <p:nvPr/>
        </p:nvSpPr>
        <p:spPr>
          <a:xfrm>
            <a:off x="6210300" y="2571750"/>
            <a:ext cx="1524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205A38-D749-4DF1-85EF-74DF0A953AAE}"/>
              </a:ext>
            </a:extLst>
          </p:cNvPr>
          <p:cNvSpPr>
            <a:spLocks noGrp="1"/>
          </p:cNvSpPr>
          <p:nvPr/>
        </p:nvSpPr>
        <p:spPr>
          <a:xfrm>
            <a:off x="6343650" y="28384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Commit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DF2843-895B-437A-AC66-03486567C021}"/>
              </a:ext>
            </a:extLst>
          </p:cNvPr>
          <p:cNvSpPr>
            <a:spLocks noGrp="1"/>
          </p:cNvSpPr>
          <p:nvPr/>
        </p:nvSpPr>
        <p:spPr>
          <a:xfrm>
            <a:off x="6343650" y="31813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Correction ou évolution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A4A700-FAD8-46D3-B701-1904E374C6C5}"/>
              </a:ext>
            </a:extLst>
          </p:cNvPr>
          <p:cNvSpPr>
            <a:spLocks noGrp="1"/>
          </p:cNvSpPr>
          <p:nvPr/>
        </p:nvSpPr>
        <p:spPr>
          <a:xfrm>
            <a:off x="7810500" y="29908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DC4298-F765-4DB2-8FF8-B939D96AD90F}"/>
              </a:ext>
            </a:extLst>
          </p:cNvPr>
          <p:cNvSpPr>
            <a:spLocks noGrp="1"/>
          </p:cNvSpPr>
          <p:nvPr/>
        </p:nvSpPr>
        <p:spPr>
          <a:xfrm>
            <a:off x="8096250" y="2571750"/>
            <a:ext cx="1524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26EF49-D6DF-4C37-A71E-E029D3CB388E}"/>
              </a:ext>
            </a:extLst>
          </p:cNvPr>
          <p:cNvSpPr>
            <a:spLocks noGrp="1"/>
          </p:cNvSpPr>
          <p:nvPr/>
        </p:nvSpPr>
        <p:spPr>
          <a:xfrm>
            <a:off x="8096250" y="2571750"/>
            <a:ext cx="1524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8D7BBC-7986-4B1E-B67F-763FB3F5A74B}"/>
              </a:ext>
            </a:extLst>
          </p:cNvPr>
          <p:cNvSpPr>
            <a:spLocks noGrp="1"/>
          </p:cNvSpPr>
          <p:nvPr/>
        </p:nvSpPr>
        <p:spPr>
          <a:xfrm>
            <a:off x="8229600" y="28384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Exports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52662A-6FD7-4466-8E9C-739D4E3575FD}"/>
              </a:ext>
            </a:extLst>
          </p:cNvPr>
          <p:cNvSpPr>
            <a:spLocks noGrp="1"/>
          </p:cNvSpPr>
          <p:nvPr/>
        </p:nvSpPr>
        <p:spPr>
          <a:xfrm>
            <a:off x="8229600" y="31813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PDF / STEP / rapports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3D440D-2CE8-4CE8-8C35-B1D4FECDD245}"/>
              </a:ext>
            </a:extLst>
          </p:cNvPr>
          <p:cNvSpPr>
            <a:spLocks noGrp="1"/>
          </p:cNvSpPr>
          <p:nvPr/>
        </p:nvSpPr>
        <p:spPr>
          <a:xfrm>
            <a:off x="9696450" y="2990850"/>
            <a:ext cx="26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33758F-3B91-4113-9A94-811AE1E32751}"/>
              </a:ext>
            </a:extLst>
          </p:cNvPr>
          <p:cNvSpPr>
            <a:spLocks noGrp="1"/>
          </p:cNvSpPr>
          <p:nvPr/>
        </p:nvSpPr>
        <p:spPr>
          <a:xfrm>
            <a:off x="9982200" y="2571750"/>
            <a:ext cx="1524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F4096D-D4D1-482E-A45D-D4DE746D2FB0}"/>
              </a:ext>
            </a:extLst>
          </p:cNvPr>
          <p:cNvSpPr>
            <a:spLocks noGrp="1"/>
          </p:cNvSpPr>
          <p:nvPr/>
        </p:nvSpPr>
        <p:spPr>
          <a:xfrm>
            <a:off x="9982200" y="2571750"/>
            <a:ext cx="1524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BE3907-8FD0-4A70-93A0-F545AE66654E}"/>
              </a:ext>
            </a:extLst>
          </p:cNvPr>
          <p:cNvSpPr>
            <a:spLocks noGrp="1"/>
          </p:cNvSpPr>
          <p:nvPr/>
        </p:nvSpPr>
        <p:spPr>
          <a:xfrm>
            <a:off x="10115550" y="28384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Package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739330-D8C9-4427-B4D3-92F6E50D0B14}"/>
              </a:ext>
            </a:extLst>
          </p:cNvPr>
          <p:cNvSpPr>
            <a:spLocks noGrp="1"/>
          </p:cNvSpPr>
          <p:nvPr/>
        </p:nvSpPr>
        <p:spPr>
          <a:xfrm>
            <a:off x="10115550" y="3181350"/>
            <a:ext cx="1257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86174"/>
                </a:solidFill>
              </a:defRPr>
            </a:pPr>
            <a:r>
              <a:rPr sz="1050" b="0">
                <a:solidFill>
                  <a:srgbClr val="586174"/>
                </a:solidFill>
              </a:rPr>
              <a:t>Preuve exportable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6714C8-4467-4214-BBEB-FDAD51F876FC}"/>
              </a:ext>
            </a:extLst>
          </p:cNvPr>
          <p:cNvSpPr>
            <a:spLocks noGrp="1"/>
          </p:cNvSpPr>
          <p:nvPr/>
        </p:nvSpPr>
        <p:spPr>
          <a:xfrm>
            <a:off x="1181100" y="4362450"/>
            <a:ext cx="981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Principe clé: Jira ne remplace pas l'issue interne. Il devient une référence externe liée à la traçabilité locale.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D6433E-5B57-4517-A4FC-B3C09D6A2B86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2694FF9-5EC8-4058-9ACA-E6B64DE4267F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5528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4C63AE8-DB59-4DA4-B335-45EE2693D7E5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07B7C5-67BA-4264-88E9-2867BFBFAD2A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Guide utilisateur: scénario quotidien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4EAFB5-9219-4309-AF47-661095EC23E7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6A847D-F3BC-4755-B520-126B7A41AF2E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34290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F3AC2C-D194-4AC1-ACF3-93B0950D77C1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3429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776C6F-297D-4D9D-A4E6-3F49266814DB}"/>
              </a:ext>
            </a:extLst>
          </p:cNvPr>
          <p:cNvSpPr>
            <a:spLocks noGrp="1"/>
          </p:cNvSpPr>
          <p:nvPr/>
        </p:nvSpPr>
        <p:spPr>
          <a:xfrm>
            <a:off x="723900" y="228600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28B7FE-F2B3-4175-95CE-75E2DD14FC4C}"/>
              </a:ext>
            </a:extLst>
          </p:cNvPr>
          <p:cNvSpPr>
            <a:spLocks noGrp="1"/>
          </p:cNvSpPr>
          <p:nvPr/>
        </p:nvSpPr>
        <p:spPr>
          <a:xfrm>
            <a:off x="1295400" y="22860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Sélectionner le projet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54E62A-61F1-43D4-97CE-70BB2B3958C6}"/>
              </a:ext>
            </a:extLst>
          </p:cNvPr>
          <p:cNvSpPr>
            <a:spLocks noGrp="1"/>
          </p:cNvSpPr>
          <p:nvPr/>
        </p:nvSpPr>
        <p:spPr>
          <a:xfrm>
            <a:off x="1295400" y="266700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L'utilisateur choisit le projet et la version de travail.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1F9F67-93AB-431D-AC5F-A58E35599275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102F9-26D2-42DC-917A-ADB707C1FC57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429000" cy="47625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5EC9EC-028C-4E6A-A63B-0F571D6FED96}"/>
              </a:ext>
            </a:extLst>
          </p:cNvPr>
          <p:cNvSpPr>
            <a:spLocks noGrp="1"/>
          </p:cNvSpPr>
          <p:nvPr/>
        </p:nvSpPr>
        <p:spPr>
          <a:xfrm>
            <a:off x="4552950" y="228600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7A4FC3-9230-4E37-8182-F653031ED805}"/>
              </a:ext>
            </a:extLst>
          </p:cNvPr>
          <p:cNvSpPr>
            <a:spLocks noGrp="1"/>
          </p:cNvSpPr>
          <p:nvPr/>
        </p:nvSpPr>
        <p:spPr>
          <a:xfrm>
            <a:off x="5124450" y="22860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Consulter la BOM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C11FC-4EE7-4332-AE7E-939EE1A05778}"/>
              </a:ext>
            </a:extLst>
          </p:cNvPr>
          <p:cNvSpPr>
            <a:spLocks noGrp="1"/>
          </p:cNvSpPr>
          <p:nvPr/>
        </p:nvSpPr>
        <p:spPr>
          <a:xfrm>
            <a:off x="5124450" y="266700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Il identifie la pièce, l'assemblage ou le dessin concerné.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3070B2-56FD-4AA9-A3A7-0F41FF84DD43}"/>
              </a:ext>
            </a:extLst>
          </p:cNvPr>
          <p:cNvSpPr>
            <a:spLocks noGrp="1"/>
          </p:cNvSpPr>
          <p:nvPr/>
        </p:nvSpPr>
        <p:spPr>
          <a:xfrm>
            <a:off x="8210550" y="2095500"/>
            <a:ext cx="34290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0B5BA1-1539-4AA7-9DC0-7271157BD260}"/>
              </a:ext>
            </a:extLst>
          </p:cNvPr>
          <p:cNvSpPr>
            <a:spLocks noGrp="1"/>
          </p:cNvSpPr>
          <p:nvPr/>
        </p:nvSpPr>
        <p:spPr>
          <a:xfrm>
            <a:off x="8210550" y="2095500"/>
            <a:ext cx="3429000" cy="47625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2F889E-7BE5-4671-B549-B69CE67C5D02}"/>
              </a:ext>
            </a:extLst>
          </p:cNvPr>
          <p:cNvSpPr>
            <a:spLocks noGrp="1"/>
          </p:cNvSpPr>
          <p:nvPr/>
        </p:nvSpPr>
        <p:spPr>
          <a:xfrm>
            <a:off x="8382000" y="228600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282D84-1308-48A6-A313-53D1F4A3F8FD}"/>
              </a:ext>
            </a:extLst>
          </p:cNvPr>
          <p:cNvSpPr>
            <a:spLocks noGrp="1"/>
          </p:cNvSpPr>
          <p:nvPr/>
        </p:nvSpPr>
        <p:spPr>
          <a:xfrm>
            <a:off x="8953500" y="22860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Créer ou ouvrir une issue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58D514-1571-42DF-98B3-873FED2BFC1B}"/>
              </a:ext>
            </a:extLst>
          </p:cNvPr>
          <p:cNvSpPr>
            <a:spLocks noGrp="1"/>
          </p:cNvSpPr>
          <p:nvPr/>
        </p:nvSpPr>
        <p:spPr>
          <a:xfrm>
            <a:off x="8953500" y="266700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Il documente le problème, le statut, l'assignation et les fichiers liés.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97ECB8-9C78-4CE9-BFBE-39C12F05713A}"/>
              </a:ext>
            </a:extLst>
          </p:cNvPr>
          <p:cNvSpPr>
            <a:spLocks noGrp="1"/>
          </p:cNvSpPr>
          <p:nvPr/>
        </p:nvSpPr>
        <p:spPr>
          <a:xfrm>
            <a:off x="552450" y="3905250"/>
            <a:ext cx="34290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4A3146-9A15-4AE0-BABF-5A93C653CD2F}"/>
              </a:ext>
            </a:extLst>
          </p:cNvPr>
          <p:cNvSpPr>
            <a:spLocks noGrp="1"/>
          </p:cNvSpPr>
          <p:nvPr/>
        </p:nvSpPr>
        <p:spPr>
          <a:xfrm>
            <a:off x="552450" y="3905250"/>
            <a:ext cx="3429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238648-968C-4F5F-A08A-5843F74692C3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CC15D1-9870-4431-8727-2373FA3F4DB0}"/>
              </a:ext>
            </a:extLst>
          </p:cNvPr>
          <p:cNvSpPr>
            <a:spLocks noGrp="1"/>
          </p:cNvSpPr>
          <p:nvPr/>
        </p:nvSpPr>
        <p:spPr>
          <a:xfrm>
            <a:off x="1295400" y="4095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Commit &amp; validation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FA487-D10B-46BB-ADB2-C4C5AA02FC9E}"/>
              </a:ext>
            </a:extLst>
          </p:cNvPr>
          <p:cNvSpPr>
            <a:spLocks noGrp="1"/>
          </p:cNvSpPr>
          <p:nvPr/>
        </p:nvSpPr>
        <p:spPr>
          <a:xfrm>
            <a:off x="1295400" y="44767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La correction est liée à l'issue, validée, poussée et historisée.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023E67-43A0-4413-9974-133DEC1275EB}"/>
              </a:ext>
            </a:extLst>
          </p:cNvPr>
          <p:cNvSpPr>
            <a:spLocks noGrp="1"/>
          </p:cNvSpPr>
          <p:nvPr/>
        </p:nvSpPr>
        <p:spPr>
          <a:xfrm>
            <a:off x="4381500" y="3905250"/>
            <a:ext cx="34290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845A488-1A6F-4A5B-84E8-25C127E75009}"/>
              </a:ext>
            </a:extLst>
          </p:cNvPr>
          <p:cNvSpPr>
            <a:spLocks noGrp="1"/>
          </p:cNvSpPr>
          <p:nvPr/>
        </p:nvSpPr>
        <p:spPr>
          <a:xfrm>
            <a:off x="4381500" y="3905250"/>
            <a:ext cx="3429000" cy="47625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8AF2B0-7AAC-4D51-9192-DFD82DECB7FD}"/>
              </a:ext>
            </a:extLst>
          </p:cNvPr>
          <p:cNvSpPr>
            <a:spLocks noGrp="1"/>
          </p:cNvSpPr>
          <p:nvPr/>
        </p:nvSpPr>
        <p:spPr>
          <a:xfrm>
            <a:off x="4552950" y="40957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4A5AA5-D36D-420B-8038-64C4A44EB39C}"/>
              </a:ext>
            </a:extLst>
          </p:cNvPr>
          <p:cNvSpPr>
            <a:spLocks noGrp="1"/>
          </p:cNvSpPr>
          <p:nvPr/>
        </p:nvSpPr>
        <p:spPr>
          <a:xfrm>
            <a:off x="5124450" y="4095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Lier les exports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3D74FA-00A1-4ADF-A82B-9D8BD9961A03}"/>
              </a:ext>
            </a:extLst>
          </p:cNvPr>
          <p:cNvSpPr>
            <a:spLocks noGrp="1"/>
          </p:cNvSpPr>
          <p:nvPr/>
        </p:nvSpPr>
        <p:spPr>
          <a:xfrm>
            <a:off x="5124450" y="44767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PDF, STEP, capture, rapport ou validation deviennent des fichiers traçables.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44CEED-A03B-47A1-AD5B-3F35FB0B146B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4290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0FDD000-87F6-4E71-AC5E-EC384B5C91C8}"/>
              </a:ext>
            </a:extLst>
          </p:cNvPr>
          <p:cNvSpPr>
            <a:spLocks noGrp="1"/>
          </p:cNvSpPr>
          <p:nvPr/>
        </p:nvSpPr>
        <p:spPr>
          <a:xfrm>
            <a:off x="8210550" y="3905250"/>
            <a:ext cx="3429000" cy="47625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575F4D-A397-43C8-8A62-BEE9787EEF82}"/>
              </a:ext>
            </a:extLst>
          </p:cNvPr>
          <p:cNvSpPr>
            <a:spLocks noGrp="1"/>
          </p:cNvSpPr>
          <p:nvPr/>
        </p:nvSpPr>
        <p:spPr>
          <a:xfrm>
            <a:off x="8382000" y="40957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06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38F3BAB-43F2-4774-9F2D-3CE604585E14}"/>
              </a:ext>
            </a:extLst>
          </p:cNvPr>
          <p:cNvSpPr>
            <a:spLocks noGrp="1"/>
          </p:cNvSpPr>
          <p:nvPr/>
        </p:nvSpPr>
        <p:spPr>
          <a:xfrm>
            <a:off x="8953500" y="4095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Exporter le dossier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344D43-1438-4BC1-A918-4CB41090E39F}"/>
              </a:ext>
            </a:extLst>
          </p:cNvPr>
          <p:cNvSpPr>
            <a:spLocks noGrp="1"/>
          </p:cNvSpPr>
          <p:nvPr/>
        </p:nvSpPr>
        <p:spPr>
          <a:xfrm>
            <a:off x="8953500" y="44767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Le package fournit la preuve complète pour revue ou audit.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9CC922-8BBC-489E-AA45-A64AA4245B34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618F1E-DC47-42D5-98FB-7C2D31C7B1DF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83822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EE27F4E-2055-465B-B48F-158A3D1844CB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D678BB-459C-45E2-AF0B-0E0F7BD025C5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Ce que voit un chef de projet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BB0D5D-9380-473E-8EE0-F4E8C5DDEF47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D66BFB-CA03-4F9C-985F-257EF7462B14}"/>
              </a:ext>
            </a:extLst>
          </p:cNvPr>
          <p:cNvSpPr>
            <a:spLocks noGrp="1"/>
          </p:cNvSpPr>
          <p:nvPr/>
        </p:nvSpPr>
        <p:spPr>
          <a:xfrm>
            <a:off x="552450" y="2076450"/>
            <a:ext cx="5048250" cy="32004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0BEBF7-2547-4F60-BEAF-D30785D45ED5}"/>
              </a:ext>
            </a:extLst>
          </p:cNvPr>
          <p:cNvSpPr>
            <a:spLocks noGrp="1"/>
          </p:cNvSpPr>
          <p:nvPr/>
        </p:nvSpPr>
        <p:spPr>
          <a:xfrm>
            <a:off x="838200" y="23812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Questions auxquelles l'app répond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583BD-C070-4546-9487-EC94A5A0A953}"/>
              </a:ext>
            </a:extLst>
          </p:cNvPr>
          <p:cNvSpPr>
            <a:spLocks noGrp="1"/>
          </p:cNvSpPr>
          <p:nvPr/>
        </p:nvSpPr>
        <p:spPr>
          <a:xfrm>
            <a:off x="838200" y="30194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4A633-8861-4BD4-9EF6-7DA8D545C252}"/>
              </a:ext>
            </a:extLst>
          </p:cNvPr>
          <p:cNvSpPr>
            <a:spLocks noGrp="1"/>
          </p:cNvSpPr>
          <p:nvPr/>
        </p:nvSpPr>
        <p:spPr>
          <a:xfrm>
            <a:off x="1123950" y="30099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Quels problèmes sont ouverts ou résolus 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D3AB55-D43F-48A8-A300-20A9C2234570}"/>
              </a:ext>
            </a:extLst>
          </p:cNvPr>
          <p:cNvSpPr>
            <a:spLocks noGrp="1"/>
          </p:cNvSpPr>
          <p:nvPr/>
        </p:nvSpPr>
        <p:spPr>
          <a:xfrm>
            <a:off x="838200" y="33813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0A294C-F815-477D-A160-62C94AEAB856}"/>
              </a:ext>
            </a:extLst>
          </p:cNvPr>
          <p:cNvSpPr>
            <a:spLocks noGrp="1"/>
          </p:cNvSpPr>
          <p:nvPr/>
        </p:nvSpPr>
        <p:spPr>
          <a:xfrm>
            <a:off x="1123950" y="33718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Quel commit a corrigé quel problème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130FE2-B0E8-4889-97BC-EE922FD9562B}"/>
              </a:ext>
            </a:extLst>
          </p:cNvPr>
          <p:cNvSpPr>
            <a:spLocks noGrp="1"/>
          </p:cNvSpPr>
          <p:nvPr/>
        </p:nvSpPr>
        <p:spPr>
          <a:xfrm>
            <a:off x="838200" y="37433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7290-09AD-48F7-A1EA-A17F95B62C59}"/>
              </a:ext>
            </a:extLst>
          </p:cNvPr>
          <p:cNvSpPr>
            <a:spLocks noGrp="1"/>
          </p:cNvSpPr>
          <p:nvPr/>
        </p:nvSpPr>
        <p:spPr>
          <a:xfrm>
            <a:off x="1123950" y="37338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Quels fichiers Creo et exports sont impactés 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CE29C7-73FB-49B9-A6B3-9665A0D2DB85}"/>
              </a:ext>
            </a:extLst>
          </p:cNvPr>
          <p:cNvSpPr>
            <a:spLocks noGrp="1"/>
          </p:cNvSpPr>
          <p:nvPr/>
        </p:nvSpPr>
        <p:spPr>
          <a:xfrm>
            <a:off x="838200" y="41052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FE7EAB-38E5-47AC-B3AB-D5A4E15447FC}"/>
              </a:ext>
            </a:extLst>
          </p:cNvPr>
          <p:cNvSpPr>
            <a:spLocks noGrp="1"/>
          </p:cNvSpPr>
          <p:nvPr/>
        </p:nvSpPr>
        <p:spPr>
          <a:xfrm>
            <a:off x="1123950" y="40957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Qui a modifié, validé, restauré ou rouvert 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0D2DA3-C9EF-4C44-A98A-334D2862DFA5}"/>
              </a:ext>
            </a:extLst>
          </p:cNvPr>
          <p:cNvSpPr>
            <a:spLocks noGrp="1"/>
          </p:cNvSpPr>
          <p:nvPr/>
        </p:nvSpPr>
        <p:spPr>
          <a:xfrm>
            <a:off x="838200" y="44672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3E6AF6-AF11-4E32-BD78-B9F9295DB087}"/>
              </a:ext>
            </a:extLst>
          </p:cNvPr>
          <p:cNvSpPr>
            <a:spLocks noGrp="1"/>
          </p:cNvSpPr>
          <p:nvPr/>
        </p:nvSpPr>
        <p:spPr>
          <a:xfrm>
            <a:off x="1123950" y="44577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Quelle preuve transmettre à la qualité ou au client 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98C293-A5DF-4367-A340-AB6A2E62AADC}"/>
              </a:ext>
            </a:extLst>
          </p:cNvPr>
          <p:cNvSpPr>
            <a:spLocks noGrp="1"/>
          </p:cNvSpPr>
          <p:nvPr/>
        </p:nvSpPr>
        <p:spPr>
          <a:xfrm>
            <a:off x="6286500" y="2076450"/>
            <a:ext cx="535305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B05808-F386-4626-952D-1A93B70530A6}"/>
              </a:ext>
            </a:extLst>
          </p:cNvPr>
          <p:cNvSpPr>
            <a:spLocks noGrp="1"/>
          </p:cNvSpPr>
          <p:nvPr/>
        </p:nvSpPr>
        <p:spPr>
          <a:xfrm>
            <a:off x="6648450" y="23812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Résultat attendu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1449B1-714E-4450-AF25-A8A529C801E3}"/>
              </a:ext>
            </a:extLst>
          </p:cNvPr>
          <p:cNvSpPr>
            <a:spLocks noGrp="1"/>
          </p:cNvSpPr>
          <p:nvPr/>
        </p:nvSpPr>
        <p:spPr>
          <a:xfrm>
            <a:off x="6648450" y="2952750"/>
            <a:ext cx="41719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Une lecture management du travail mécanique: pas seulement des fichiers, mais des décisions, responsabilités, statuts et preuves.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EF6159-8279-4264-852C-ECFC11D244D5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86174"/>
                </a:solidFill>
              </a:defRPr>
            </a:pPr>
            <a:r>
              <a:rPr sz="1500" b="0">
                <a:solidFill>
                  <a:srgbClr val="586174"/>
                </a:solidFill>
              </a:rPr>
              <a:t>L'application devient un support de revue projet, de passation et d'audit.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229EC0-C85D-4386-B393-D92106C9B7A0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3C215F-EAE6-4C8A-8DC0-68C718C601DF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1292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84F7A35-65A6-4971-AC9A-5A2BCDDFAD36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221CCA-CD4F-498D-A87E-AFBCDCC11D21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Gouvernance et robustesse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E5907-2186-4B30-B3EA-D12B2B3193CB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55256C-C147-4CCE-865F-144B8851ADDF}"/>
              </a:ext>
            </a:extLst>
          </p:cNvPr>
          <p:cNvSpPr>
            <a:spLocks noGrp="1"/>
          </p:cNvSpPr>
          <p:nvPr/>
        </p:nvSpPr>
        <p:spPr>
          <a:xfrm>
            <a:off x="819150" y="20859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9A0A32-0A90-4D64-858E-5CFC3FFD2027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695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Validation atomique: si un fichier pose problème, l'opération complète s'arrête.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16167F-74A7-48BF-B15E-5DB17A300465}"/>
              </a:ext>
            </a:extLst>
          </p:cNvPr>
          <p:cNvSpPr>
            <a:spLocks noGrp="1"/>
          </p:cNvSpPr>
          <p:nvPr/>
        </p:nvSpPr>
        <p:spPr>
          <a:xfrm>
            <a:off x="819150" y="26003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626C14-E1DB-4DDD-935E-F45140A0B2F3}"/>
              </a:ext>
            </a:extLst>
          </p:cNvPr>
          <p:cNvSpPr>
            <a:spLocks noGrp="1"/>
          </p:cNvSpPr>
          <p:nvPr/>
        </p:nvSpPr>
        <p:spPr>
          <a:xfrm>
            <a:off x="1104900" y="2590800"/>
            <a:ext cx="695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Historique conservé: commits, restaurations et réouvertures restent visibles.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0E360B-3A5B-4EEE-9578-6EA7949885E4}"/>
              </a:ext>
            </a:extLst>
          </p:cNvPr>
          <p:cNvSpPr>
            <a:spLocks noGrp="1"/>
          </p:cNvSpPr>
          <p:nvPr/>
        </p:nvSpPr>
        <p:spPr>
          <a:xfrm>
            <a:off x="819150" y="31146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F9C2B9-6C2A-43C5-9CAE-0C1D2C49BCC2}"/>
              </a:ext>
            </a:extLst>
          </p:cNvPr>
          <p:cNvSpPr>
            <a:spLocks noGrp="1"/>
          </p:cNvSpPr>
          <p:nvPr/>
        </p:nvSpPr>
        <p:spPr>
          <a:xfrm>
            <a:off x="1104900" y="3105150"/>
            <a:ext cx="695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Droits utilisateurs: rôles, permissions et administration contrôlée.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94E33D-61C7-4751-B1DE-EC698DDC35F8}"/>
              </a:ext>
            </a:extLst>
          </p:cNvPr>
          <p:cNvSpPr>
            <a:spLocks noGrp="1"/>
          </p:cNvSpPr>
          <p:nvPr/>
        </p:nvSpPr>
        <p:spPr>
          <a:xfrm>
            <a:off x="819150" y="362902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88391B-D813-41E5-9818-77BD4F7E9831}"/>
              </a:ext>
            </a:extLst>
          </p:cNvPr>
          <p:cNvSpPr>
            <a:spLocks noGrp="1"/>
          </p:cNvSpPr>
          <p:nvPr/>
        </p:nvSpPr>
        <p:spPr>
          <a:xfrm>
            <a:off x="1104900" y="3619500"/>
            <a:ext cx="695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Version et licence: métadonnées pour maîtriser la compatibilité.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E9F7CC-8B0D-477F-A7F4-9971641DAA1B}"/>
              </a:ext>
            </a:extLst>
          </p:cNvPr>
          <p:cNvSpPr>
            <a:spLocks noGrp="1"/>
          </p:cNvSpPr>
          <p:nvPr/>
        </p:nvSpPr>
        <p:spPr>
          <a:xfrm>
            <a:off x="819150" y="4143375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D22FC9-AE24-4934-8D3E-18477BC2F67E}"/>
              </a:ext>
            </a:extLst>
          </p:cNvPr>
          <p:cNvSpPr>
            <a:spLocks noGrp="1"/>
          </p:cNvSpPr>
          <p:nvPr/>
        </p:nvSpPr>
        <p:spPr>
          <a:xfrm>
            <a:off x="1104900" y="4133850"/>
            <a:ext cx="695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0B1220"/>
                </a:solidFill>
              </a:defRPr>
            </a:pPr>
            <a:r>
              <a:rPr sz="1650" b="0">
                <a:solidFill>
                  <a:srgbClr val="0B1220"/>
                </a:solidFill>
              </a:rPr>
              <a:t>Export sécurisé: fichiers d'entrée, sorties d'ingénierie, Excel et historique.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88325F-44F8-4B8E-8884-4F366C4FBEE0}"/>
              </a:ext>
            </a:extLst>
          </p:cNvPr>
          <p:cNvSpPr>
            <a:spLocks noGrp="1"/>
          </p:cNvSpPr>
          <p:nvPr/>
        </p:nvSpPr>
        <p:spPr>
          <a:xfrm>
            <a:off x="8763000" y="2247900"/>
            <a:ext cx="2476500" cy="2000250"/>
          </a:xfrm>
          <a:prstGeom prst="rect">
            <a:avLst/>
          </a:prstGeom>
          <a:solidFill>
            <a:srgbClr val="E8ED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6CCC98-C066-455A-8ACD-11EC21461770}"/>
              </a:ext>
            </a:extLst>
          </p:cNvPr>
          <p:cNvSpPr>
            <a:spLocks noGrp="1"/>
          </p:cNvSpPr>
          <p:nvPr/>
        </p:nvSpPr>
        <p:spPr>
          <a:xfrm>
            <a:off x="9144000" y="25527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Objectif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55199F-EF7C-47EB-BE78-757945ECFE28}"/>
              </a:ext>
            </a:extLst>
          </p:cNvPr>
          <p:cNvSpPr>
            <a:spLocks noGrp="1"/>
          </p:cNvSpPr>
          <p:nvPr/>
        </p:nvSpPr>
        <p:spPr>
          <a:xfrm>
            <a:off x="9105900" y="3086100"/>
            <a:ext cx="17907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Moins de dépendance aux habitudes individuelles.</a:t>
            </a:r>
          </a:p>
          <a:p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Plus de règles communes.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D7DFCC-F6C1-4958-B2DE-CA14C999F20A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D80FBE-71B6-445D-8F78-CCC2AEEDC309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8990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B41DE72-9D52-4209-94CB-984151073309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5F22E9-4E74-45DB-90FE-A0FFFB605675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Indicateurs de valeur à suivre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7C3688-711A-41B9-9993-1111D0D94227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FBE8A6-DF15-4B0A-A74F-4B8256BDF986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3333750" cy="120015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6FC1B0-EBEB-4434-A56A-14A0D8518F05}"/>
              </a:ext>
            </a:extLst>
          </p:cNvPr>
          <p:cNvSpPr>
            <a:spLocks noGrp="1"/>
          </p:cNvSpPr>
          <p:nvPr/>
        </p:nvSpPr>
        <p:spPr>
          <a:xfrm>
            <a:off x="552450" y="2209800"/>
            <a:ext cx="57150" cy="1200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E6A518-9E25-4E38-8C5B-876B6FFECDBB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-30 à -50%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723762-B17B-4754-BF64-9267B23DB409}"/>
              </a:ext>
            </a:extLst>
          </p:cNvPr>
          <p:cNvSpPr>
            <a:spLocks noGrp="1"/>
          </p:cNvSpPr>
          <p:nvPr/>
        </p:nvSpPr>
        <p:spPr>
          <a:xfrm>
            <a:off x="762000" y="29146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Temps de préparation des revues projet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454FB8-C4B3-4D4B-8F3D-4FB2D078B5BF}"/>
              </a:ext>
            </a:extLst>
          </p:cNvPr>
          <p:cNvSpPr>
            <a:spLocks noGrp="1"/>
          </p:cNvSpPr>
          <p:nvPr/>
        </p:nvSpPr>
        <p:spPr>
          <a:xfrm>
            <a:off x="4429125" y="2209800"/>
            <a:ext cx="3333750" cy="120015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73667-A2BD-4BE5-B4F0-A2B0F6082E2A}"/>
              </a:ext>
            </a:extLst>
          </p:cNvPr>
          <p:cNvSpPr>
            <a:spLocks noGrp="1"/>
          </p:cNvSpPr>
          <p:nvPr/>
        </p:nvSpPr>
        <p:spPr>
          <a:xfrm>
            <a:off x="4429125" y="2209800"/>
            <a:ext cx="57150" cy="12001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38680B-9434-4C89-A258-409364647E54}"/>
              </a:ext>
            </a:extLst>
          </p:cNvPr>
          <p:cNvSpPr>
            <a:spLocks noGrp="1"/>
          </p:cNvSpPr>
          <p:nvPr/>
        </p:nvSpPr>
        <p:spPr>
          <a:xfrm>
            <a:off x="4638675" y="241935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En baisse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128F10-1618-4624-B240-3728B80A26C0}"/>
              </a:ext>
            </a:extLst>
          </p:cNvPr>
          <p:cNvSpPr>
            <a:spLocks noGrp="1"/>
          </p:cNvSpPr>
          <p:nvPr/>
        </p:nvSpPr>
        <p:spPr>
          <a:xfrm>
            <a:off x="4638675" y="29146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Incidents liés aux mauvaises versions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DA2281-62EB-48B5-9185-6F81B0F7237B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3333750" cy="120015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9EA341-7FF7-408B-8876-773AB1A1236D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57150" cy="12001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F28A78-67C3-4870-B194-EE7E11C7772F}"/>
              </a:ext>
            </a:extLst>
          </p:cNvPr>
          <p:cNvSpPr>
            <a:spLocks noGrp="1"/>
          </p:cNvSpPr>
          <p:nvPr/>
        </p:nvSpPr>
        <p:spPr>
          <a:xfrm>
            <a:off x="8515350" y="241935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Objectif 100%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562A61-D37A-4AFF-A21D-F447FADFF1F0}"/>
              </a:ext>
            </a:extLst>
          </p:cNvPr>
          <p:cNvSpPr>
            <a:spLocks noGrp="1"/>
          </p:cNvSpPr>
          <p:nvPr/>
        </p:nvSpPr>
        <p:spPr>
          <a:xfrm>
            <a:off x="8515350" y="29146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86174"/>
                </a:solidFill>
              </a:defRPr>
            </a:pPr>
            <a:r>
              <a:rPr sz="1275" b="0">
                <a:solidFill>
                  <a:srgbClr val="586174"/>
                </a:solidFill>
              </a:rPr>
              <a:t>Issues avec preuve complète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825C84-2BC1-4865-96EE-DE9BAC7B2F57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110871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4BD292-569B-44D4-BCBF-731F99EF483D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Mesure simple proposée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29D73E-4BAB-41FE-8AED-E81EAFB34859}"/>
              </a:ext>
            </a:extLst>
          </p:cNvPr>
          <p:cNvSpPr>
            <a:spLocks noGrp="1"/>
          </p:cNvSpPr>
          <p:nvPr/>
        </p:nvSpPr>
        <p:spPr>
          <a:xfrm>
            <a:off x="3714750" y="43434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Après déploiement, suivre chaque mois: nombre d'issues créées/résolues, commits validés, restaurations, exports de dossiers, fichiers liés et écarts détectés en revue.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91F544-26F4-455D-9071-0066CF78AFAB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176CA9-F954-4C2D-B223-DBD4F5709567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2506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88F9FB8-300E-4869-9B84-90F349F2C21B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F1B10F-AC20-4254-A00B-BD37E2BA946B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Évolution d'architecture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AE2E5E-6B60-4F55-B147-5D907EE8E488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C127F7-0B7C-436A-AE7D-21C528E7CA91}"/>
              </a:ext>
            </a:extLst>
          </p:cNvPr>
          <p:cNvSpPr>
            <a:spLocks noGrp="1"/>
          </p:cNvSpPr>
          <p:nvPr/>
        </p:nvSpPr>
        <p:spPr>
          <a:xfrm>
            <a:off x="552450" y="2190750"/>
            <a:ext cx="3333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AE8D76-5F77-4DEC-AA8A-E44089093253}"/>
              </a:ext>
            </a:extLst>
          </p:cNvPr>
          <p:cNvSpPr>
            <a:spLocks noGrp="1"/>
          </p:cNvSpPr>
          <p:nvPr/>
        </p:nvSpPr>
        <p:spPr>
          <a:xfrm>
            <a:off x="552450" y="2190750"/>
            <a:ext cx="33337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3D7A84-92F3-4B78-AF3D-D963F2D440E4}"/>
              </a:ext>
            </a:extLst>
          </p:cNvPr>
          <p:cNvSpPr>
            <a:spLocks noGrp="1"/>
          </p:cNvSpPr>
          <p:nvPr/>
        </p:nvSpPr>
        <p:spPr>
          <a:xfrm>
            <a:off x="723900" y="23812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1C6709-9359-4A1E-A942-02D5E0621C00}"/>
              </a:ext>
            </a:extLst>
          </p:cNvPr>
          <p:cNvSpPr>
            <a:spLocks noGrp="1"/>
          </p:cNvSpPr>
          <p:nvPr/>
        </p:nvSpPr>
        <p:spPr>
          <a:xfrm>
            <a:off x="1295400" y="2381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Aujourd'hui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05E955-4832-4F0A-A616-DABCDBEA9928}"/>
              </a:ext>
            </a:extLst>
          </p:cNvPr>
          <p:cNvSpPr>
            <a:spLocks noGrp="1"/>
          </p:cNvSpPr>
          <p:nvPr/>
        </p:nvSpPr>
        <p:spPr>
          <a:xfrm>
            <a:off x="1295400" y="27622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Application desktop + base locale/partagée + coffre fichiers.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5DA5B-457B-44E6-B894-67EA56F0A511}"/>
              </a:ext>
            </a:extLst>
          </p:cNvPr>
          <p:cNvSpPr>
            <a:spLocks noGrp="1"/>
          </p:cNvSpPr>
          <p:nvPr/>
        </p:nvSpPr>
        <p:spPr>
          <a:xfrm>
            <a:off x="4429125" y="2190750"/>
            <a:ext cx="3333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39456A-AF67-4808-B54C-34B451E0F5EA}"/>
              </a:ext>
            </a:extLst>
          </p:cNvPr>
          <p:cNvSpPr>
            <a:spLocks noGrp="1"/>
          </p:cNvSpPr>
          <p:nvPr/>
        </p:nvSpPr>
        <p:spPr>
          <a:xfrm>
            <a:off x="4429125" y="2190750"/>
            <a:ext cx="3333750" cy="47625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C4D6E8-67E8-485B-8A83-E58047697E4E}"/>
              </a:ext>
            </a:extLst>
          </p:cNvPr>
          <p:cNvSpPr>
            <a:spLocks noGrp="1"/>
          </p:cNvSpPr>
          <p:nvPr/>
        </p:nvSpPr>
        <p:spPr>
          <a:xfrm>
            <a:off x="4600575" y="23812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59669"/>
                </a:solidFill>
              </a:defRPr>
            </a:pPr>
            <a:r>
              <a:rPr sz="2100" b="1">
                <a:solidFill>
                  <a:srgbClr val="059669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C90F65-9090-4A8D-93AC-B901C2592741}"/>
              </a:ext>
            </a:extLst>
          </p:cNvPr>
          <p:cNvSpPr>
            <a:spLocks noGrp="1"/>
          </p:cNvSpPr>
          <p:nvPr/>
        </p:nvSpPr>
        <p:spPr>
          <a:xfrm>
            <a:off x="5172075" y="2381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Optimisation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4318B3-A983-4603-B9DF-3F47C6053029}"/>
              </a:ext>
            </a:extLst>
          </p:cNvPr>
          <p:cNvSpPr>
            <a:spLocks noGrp="1"/>
          </p:cNvSpPr>
          <p:nvPr/>
        </p:nvSpPr>
        <p:spPr>
          <a:xfrm>
            <a:off x="5172075" y="27622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Court terme: cache local, requêtes groupées, transactions courtes, index DB.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E13EEE-4342-414C-807C-B165D8DAFDC1}"/>
              </a:ext>
            </a:extLst>
          </p:cNvPr>
          <p:cNvSpPr>
            <a:spLocks noGrp="1"/>
          </p:cNvSpPr>
          <p:nvPr/>
        </p:nvSpPr>
        <p:spPr>
          <a:xfrm>
            <a:off x="8305800" y="2190750"/>
            <a:ext cx="333375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3D879A-7780-4604-8D18-7344973B9F26}"/>
              </a:ext>
            </a:extLst>
          </p:cNvPr>
          <p:cNvSpPr>
            <a:spLocks noGrp="1"/>
          </p:cNvSpPr>
          <p:nvPr/>
        </p:nvSpPr>
        <p:spPr>
          <a:xfrm>
            <a:off x="8305800" y="2190750"/>
            <a:ext cx="3333750" cy="47625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43D5EA-043B-4D9A-A1DD-98F818F4D054}"/>
              </a:ext>
            </a:extLst>
          </p:cNvPr>
          <p:cNvSpPr>
            <a:spLocks noGrp="1"/>
          </p:cNvSpPr>
          <p:nvPr/>
        </p:nvSpPr>
        <p:spPr>
          <a:xfrm>
            <a:off x="8477250" y="2381250"/>
            <a:ext cx="495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97316"/>
                </a:solidFill>
              </a:defRPr>
            </a:pPr>
            <a:r>
              <a:rPr sz="2100" b="1">
                <a:solidFill>
                  <a:srgbClr val="F97316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26FE0C-F87D-40F1-AA33-8E6C38FBC750}"/>
              </a:ext>
            </a:extLst>
          </p:cNvPr>
          <p:cNvSpPr>
            <a:spLocks noGrp="1"/>
          </p:cNvSpPr>
          <p:nvPr/>
        </p:nvSpPr>
        <p:spPr>
          <a:xfrm>
            <a:off x="9048750" y="23812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Cible LAN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9CFB24-8922-49F9-AA12-5C256556F795}"/>
              </a:ext>
            </a:extLst>
          </p:cNvPr>
          <p:cNvSpPr>
            <a:spLocks noGrp="1"/>
          </p:cNvSpPr>
          <p:nvPr/>
        </p:nvSpPr>
        <p:spPr>
          <a:xfrm>
            <a:off x="9048750" y="276225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>
                <a:solidFill>
                  <a:srgbClr val="586174"/>
                </a:solidFill>
              </a:rPr>
              <a:t>Serveur applicatif + PostgreSQL/SQL Server + coffre central.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A1A8D1-F392-4D1C-A0C6-BE46C65E3831}"/>
              </a:ext>
            </a:extLst>
          </p:cNvPr>
          <p:cNvSpPr>
            <a:spLocks noGrp="1"/>
          </p:cNvSpPr>
          <p:nvPr/>
        </p:nvSpPr>
        <p:spPr>
          <a:xfrm>
            <a:off x="819150" y="434340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La cible serveur permet plus de performance, sécurité, audit, multi-utilisateur et intégration Jira/API sans exposer la base directement aux postes.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E18F86-1D5E-4D1F-BD4A-CAA8D75FDB6A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513B6E-AB39-4885-A31C-B944468DB3D7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00331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034D470-6CFB-4C90-8848-A5816A7C8231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000DD6-D385-4F1A-BFB0-FE573E85DED9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Décision attendue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BC583A-5E90-474F-A37D-08ACEA6FDF27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A392E1-2E0E-491E-A7BC-7F54E4515E79}"/>
              </a:ext>
            </a:extLst>
          </p:cNvPr>
          <p:cNvSpPr>
            <a:spLocks noGrp="1"/>
          </p:cNvSpPr>
          <p:nvPr/>
        </p:nvSpPr>
        <p:spPr>
          <a:xfrm>
            <a:off x="552450" y="203835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1220"/>
                </a:solidFill>
              </a:defRPr>
            </a:pPr>
            <a:r>
              <a:rPr sz="2400" b="1">
                <a:solidFill>
                  <a:srgbClr val="0B1220"/>
                </a:solidFill>
              </a:rPr>
              <a:t>Valider Creo VCS comme socle de traçabilité mécanique et lancer un pilote contrôlé sur un projet représentatif.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53C1DA-ECE2-41D8-903B-BB85B5D7C400}"/>
              </a:ext>
            </a:extLst>
          </p:cNvPr>
          <p:cNvSpPr>
            <a:spLocks noGrp="1"/>
          </p:cNvSpPr>
          <p:nvPr/>
        </p:nvSpPr>
        <p:spPr>
          <a:xfrm>
            <a:off x="552450" y="3257550"/>
            <a:ext cx="3333750" cy="15240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A6080D-FE7D-41C5-926F-880924894A51}"/>
              </a:ext>
            </a:extLst>
          </p:cNvPr>
          <p:cNvSpPr>
            <a:spLocks noGrp="1"/>
          </p:cNvSpPr>
          <p:nvPr/>
        </p:nvSpPr>
        <p:spPr>
          <a:xfrm>
            <a:off x="4429125" y="3257550"/>
            <a:ext cx="3333750" cy="15240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6D5DD2-753E-4949-9CB0-FED6F103A2E9}"/>
              </a:ext>
            </a:extLst>
          </p:cNvPr>
          <p:cNvSpPr>
            <a:spLocks noGrp="1"/>
          </p:cNvSpPr>
          <p:nvPr/>
        </p:nvSpPr>
        <p:spPr>
          <a:xfrm>
            <a:off x="8305800" y="3257550"/>
            <a:ext cx="3333750" cy="1524000"/>
          </a:xfrm>
          <a:prstGeom prst="rect">
            <a:avLst/>
          </a:prstGeom>
          <a:solidFill>
            <a:srgbClr val="F3F5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86D79B-1DFC-4BE5-85A6-55A1CEE71C46}"/>
              </a:ext>
            </a:extLst>
          </p:cNvPr>
          <p:cNvSpPr>
            <a:spLocks noGrp="1"/>
          </p:cNvSpPr>
          <p:nvPr/>
        </p:nvSpPr>
        <p:spPr>
          <a:xfrm>
            <a:off x="819150" y="35623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1. Pilote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F275D2-09C3-4654-B794-FEEDA6EA59A4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86174"/>
                </a:solidFill>
              </a:defRPr>
            </a:pPr>
            <a:r>
              <a:rPr sz="1350" b="0">
                <a:solidFill>
                  <a:srgbClr val="586174"/>
                </a:solidFill>
              </a:rPr>
              <a:t>Choisir un projet mécanique avec BOM, issues et exports réels.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44AE76-0D59-4F09-81C7-D582B20C5F00}"/>
              </a:ext>
            </a:extLst>
          </p:cNvPr>
          <p:cNvSpPr>
            <a:spLocks noGrp="1"/>
          </p:cNvSpPr>
          <p:nvPr/>
        </p:nvSpPr>
        <p:spPr>
          <a:xfrm>
            <a:off x="4695825" y="35623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2. Mesure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24F16B-806E-4717-8DA2-CEC4D47FB3E1}"/>
              </a:ext>
            </a:extLst>
          </p:cNvPr>
          <p:cNvSpPr>
            <a:spLocks noGrp="1"/>
          </p:cNvSpPr>
          <p:nvPr/>
        </p:nvSpPr>
        <p:spPr>
          <a:xfrm>
            <a:off x="4695825" y="40005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86174"/>
                </a:solidFill>
              </a:defRPr>
            </a:pPr>
            <a:r>
              <a:rPr sz="1350" b="0">
                <a:solidFill>
                  <a:srgbClr val="586174"/>
                </a:solidFill>
              </a:rPr>
              <a:t>Suivre les indicateurs qualité, délai, traçabilité et adoption.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9A4C16-7F3E-4B3A-8DF2-01E86C97742F}"/>
              </a:ext>
            </a:extLst>
          </p:cNvPr>
          <p:cNvSpPr>
            <a:spLocks noGrp="1"/>
          </p:cNvSpPr>
          <p:nvPr/>
        </p:nvSpPr>
        <p:spPr>
          <a:xfrm>
            <a:off x="8572500" y="35623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3. Industrialisation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5CFC05-9B64-4355-9CF3-CA616EBD77AD}"/>
              </a:ext>
            </a:extLst>
          </p:cNvPr>
          <p:cNvSpPr>
            <a:spLocks noGrp="1"/>
          </p:cNvSpPr>
          <p:nvPr/>
        </p:nvSpPr>
        <p:spPr>
          <a:xfrm>
            <a:off x="8572500" y="40005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86174"/>
                </a:solidFill>
              </a:defRPr>
            </a:pPr>
            <a:r>
              <a:rPr sz="1350" b="0">
                <a:solidFill>
                  <a:srgbClr val="586174"/>
                </a:solidFill>
              </a:rPr>
              <a:t>Décider l'architecture serveur et le périmètre de généralisation.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A34801-DB08-4E3B-819D-2C36DAC49213}"/>
              </a:ext>
            </a:extLst>
          </p:cNvPr>
          <p:cNvSpPr>
            <a:spLocks noGrp="1"/>
          </p:cNvSpPr>
          <p:nvPr/>
        </p:nvSpPr>
        <p:spPr>
          <a:xfrm>
            <a:off x="742950" y="5410200"/>
            <a:ext cx="1028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Message clé: l'application crée de la valeur parce qu'elle transforme les fichiers mécaniques en informations pilotables.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DA4778-F269-4227-B053-C785978CBF06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D8AE96-7A70-4258-92E4-FABC1F7962B1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76050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E4180-B906-6A34-54B0-61012C45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1DF13DF-4E6D-3425-B855-23AB180CD00B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CF7490-AD22-1D96-E03C-4C0A252357F9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endParaRPr sz="3150" b="1" dirty="0">
              <a:solidFill>
                <a:srgbClr val="0B122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BEA438-AB04-BA6C-3ABC-285315082663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5C4670-0363-4AB9-9D4B-84D3D2B1B450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B728FB-78F6-F4AE-AEF1-F6B860B52322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2AE50C-3127-3944-5F76-8129D7B7B770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4333875" cy="819150"/>
          </a:xfrm>
          <a:prstGeom prst="rect">
            <a:avLst/>
          </a:prstGeom>
          <a:solidFill>
            <a:srgbClr val="F3F5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77DD00-1CA0-A983-D15F-7662BAB1818C}"/>
              </a:ext>
            </a:extLst>
          </p:cNvPr>
          <p:cNvSpPr>
            <a:spLocks noGrp="1"/>
          </p:cNvSpPr>
          <p:nvPr/>
        </p:nvSpPr>
        <p:spPr>
          <a:xfrm>
            <a:off x="762001" y="857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 dirty="0">
                <a:solidFill>
                  <a:srgbClr val="0B1220"/>
                </a:solidFill>
              </a:rPr>
              <a:t>BOM &amp; </a:t>
            </a:r>
            <a:r>
              <a:rPr sz="1650" b="1" dirty="0" err="1">
                <a:solidFill>
                  <a:srgbClr val="0B1220"/>
                </a:solidFill>
              </a:rPr>
              <a:t>fichiers</a:t>
            </a:r>
            <a:endParaRPr sz="1650" b="1" dirty="0">
              <a:solidFill>
                <a:srgbClr val="0B122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F0CC1F-665B-96D3-79DA-563F984A2E3D}"/>
              </a:ext>
            </a:extLst>
          </p:cNvPr>
          <p:cNvSpPr>
            <a:spLocks noGrp="1"/>
          </p:cNvSpPr>
          <p:nvPr/>
        </p:nvSpPr>
        <p:spPr>
          <a:xfrm>
            <a:off x="2219326" y="8953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 dirty="0">
                <a:solidFill>
                  <a:srgbClr val="586174"/>
                </a:solidFill>
              </a:rPr>
              <a:t>Structure </a:t>
            </a:r>
            <a:r>
              <a:rPr sz="1200" b="0" dirty="0" err="1">
                <a:solidFill>
                  <a:srgbClr val="586174"/>
                </a:solidFill>
              </a:rPr>
              <a:t>produit</a:t>
            </a:r>
            <a:r>
              <a:rPr sz="1200" b="0" dirty="0">
                <a:solidFill>
                  <a:srgbClr val="586174"/>
                </a:solidFill>
              </a:rPr>
              <a:t>, </a:t>
            </a:r>
            <a:r>
              <a:rPr sz="1200" b="0" dirty="0" err="1">
                <a:solidFill>
                  <a:srgbClr val="586174"/>
                </a:solidFill>
              </a:rPr>
              <a:t>pièces</a:t>
            </a:r>
            <a:r>
              <a:rPr sz="1200" b="0" dirty="0">
                <a:solidFill>
                  <a:srgbClr val="586174"/>
                </a:solidFill>
              </a:rPr>
              <a:t>, assemblages, dessins et </a:t>
            </a:r>
            <a:r>
              <a:rPr sz="1200" b="0" dirty="0" err="1">
                <a:solidFill>
                  <a:srgbClr val="586174"/>
                </a:solidFill>
              </a:rPr>
              <a:t>fichiers</a:t>
            </a:r>
            <a:r>
              <a:rPr sz="1200" b="0" dirty="0">
                <a:solidFill>
                  <a:srgbClr val="586174"/>
                </a:solidFill>
              </a:rPr>
              <a:t> </a:t>
            </a:r>
            <a:r>
              <a:rPr sz="1200" b="0" dirty="0" err="1">
                <a:solidFill>
                  <a:srgbClr val="586174"/>
                </a:solidFill>
              </a:rPr>
              <a:t>associés</a:t>
            </a:r>
            <a:r>
              <a:rPr sz="1200" b="0" dirty="0">
                <a:solidFill>
                  <a:srgbClr val="586174"/>
                </a:solidFill>
              </a:rPr>
              <a:t>.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A9AFA7C5-1FFA-7780-1E0D-7FCCC225F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66" y="1767979"/>
            <a:ext cx="2406291" cy="1299071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31D82E27-BDDB-3A3F-EF31-0C5B438B9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1726235"/>
            <a:ext cx="1762125" cy="2077663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DCDD3687-E164-A177-DEFE-109B3B5E2F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911" y="1796738"/>
            <a:ext cx="1993833" cy="1959951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C2C2DDB5-6425-B231-7ECD-BA61079CF1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162" y="5810646"/>
            <a:ext cx="4703664" cy="304007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E3C25B1F-07F2-5520-AFEE-8B95DB936B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2996" y="1796738"/>
            <a:ext cx="2260179" cy="1750410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C242938E-8111-696D-23CD-7F8DB8AD57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9824" y="2257623"/>
            <a:ext cx="1967603" cy="1376362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079DE0F9-C9C9-648F-50E3-C13571EBDF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5132" y="2851398"/>
            <a:ext cx="2300339" cy="1905000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BBD9844E-3841-0D3A-4FEF-7A88F32EAE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1139" y="3862971"/>
            <a:ext cx="2059255" cy="1703448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C4C5738E-AC33-60D8-B484-917F7BBF8E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800" y="5134400"/>
            <a:ext cx="3418195" cy="489204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48C4ADA0-DD03-EC9E-F767-B361D2A382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186" y="3316962"/>
            <a:ext cx="1628774" cy="879453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42CFE25C-ECC6-CBC4-4B89-7559FD6278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6529" y="4262670"/>
            <a:ext cx="1715543" cy="1417653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852E60B9-B842-7E19-26DD-3FFA05CB111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503" y="3790951"/>
            <a:ext cx="2262562" cy="136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351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38527F-3D0E-D91E-EB7C-06BD3F35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4E0C254-F6BB-C49D-8541-2DDCCCBE97BE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858BCE-A3D2-43BB-545C-DC2690E1F508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endParaRPr sz="3150" b="1" dirty="0">
              <a:solidFill>
                <a:srgbClr val="0B122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7653EF-C661-A212-8369-1CE2D508D8E5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23AAB9-26A8-F11A-1CDB-527DAD52F489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F91023-0C97-8112-32C7-ADA112342BF2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8F5600-701C-C91E-23D4-7DA1F72651C0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4333875" cy="819150"/>
          </a:xfrm>
          <a:prstGeom prst="rect">
            <a:avLst/>
          </a:prstGeom>
          <a:solidFill>
            <a:srgbClr val="F3F5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7CAC41-1049-EF5D-8119-3DB159FA37C2}"/>
              </a:ext>
            </a:extLst>
          </p:cNvPr>
          <p:cNvSpPr>
            <a:spLocks noGrp="1"/>
          </p:cNvSpPr>
          <p:nvPr/>
        </p:nvSpPr>
        <p:spPr>
          <a:xfrm>
            <a:off x="762001" y="857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 dirty="0">
                <a:solidFill>
                  <a:srgbClr val="0B1220"/>
                </a:solidFill>
              </a:rPr>
              <a:t>BOM &amp; </a:t>
            </a:r>
            <a:r>
              <a:rPr sz="1650" b="1" dirty="0" err="1">
                <a:solidFill>
                  <a:srgbClr val="0B1220"/>
                </a:solidFill>
              </a:rPr>
              <a:t>fichiers</a:t>
            </a:r>
            <a:endParaRPr sz="1650" b="1" dirty="0">
              <a:solidFill>
                <a:srgbClr val="0B122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83FF77-1A74-CBF2-F46E-D5563F8A5DE0}"/>
              </a:ext>
            </a:extLst>
          </p:cNvPr>
          <p:cNvSpPr>
            <a:spLocks noGrp="1"/>
          </p:cNvSpPr>
          <p:nvPr/>
        </p:nvSpPr>
        <p:spPr>
          <a:xfrm>
            <a:off x="2219326" y="8953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 dirty="0">
                <a:solidFill>
                  <a:srgbClr val="586174"/>
                </a:solidFill>
              </a:rPr>
              <a:t>Structure </a:t>
            </a:r>
            <a:r>
              <a:rPr sz="1200" b="0" dirty="0" err="1">
                <a:solidFill>
                  <a:srgbClr val="586174"/>
                </a:solidFill>
              </a:rPr>
              <a:t>produit</a:t>
            </a:r>
            <a:r>
              <a:rPr sz="1200" b="0" dirty="0">
                <a:solidFill>
                  <a:srgbClr val="586174"/>
                </a:solidFill>
              </a:rPr>
              <a:t>, </a:t>
            </a:r>
            <a:r>
              <a:rPr sz="1200" b="0" dirty="0" err="1">
                <a:solidFill>
                  <a:srgbClr val="586174"/>
                </a:solidFill>
              </a:rPr>
              <a:t>pièces</a:t>
            </a:r>
            <a:r>
              <a:rPr sz="1200" b="0" dirty="0">
                <a:solidFill>
                  <a:srgbClr val="586174"/>
                </a:solidFill>
              </a:rPr>
              <a:t>, assemblages, dessins et </a:t>
            </a:r>
            <a:r>
              <a:rPr sz="1200" b="0" dirty="0" err="1">
                <a:solidFill>
                  <a:srgbClr val="586174"/>
                </a:solidFill>
              </a:rPr>
              <a:t>fichiers</a:t>
            </a:r>
            <a:r>
              <a:rPr sz="1200" b="0" dirty="0">
                <a:solidFill>
                  <a:srgbClr val="586174"/>
                </a:solidFill>
              </a:rPr>
              <a:t> </a:t>
            </a:r>
            <a:r>
              <a:rPr sz="1200" b="0" dirty="0" err="1">
                <a:solidFill>
                  <a:srgbClr val="586174"/>
                </a:solidFill>
              </a:rPr>
              <a:t>associés</a:t>
            </a:r>
            <a:r>
              <a:rPr sz="1200" b="0" dirty="0">
                <a:solidFill>
                  <a:srgbClr val="586174"/>
                </a:solidFill>
              </a:rPr>
              <a:t>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D0ABB65-6737-01A1-E016-2150A802C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857374"/>
            <a:ext cx="2354920" cy="192881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C86D939-E734-8F48-3346-8E7E4EDF0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279" y="2290763"/>
            <a:ext cx="2411694" cy="197740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DA8C1D5-443A-345F-8DFA-EEF333C331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982" y="1744518"/>
            <a:ext cx="6304493" cy="336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78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810C1-6504-5456-AA89-0A708AB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65851FC-5C1C-D845-C532-A2BA85C37306}"/>
              </a:ext>
            </a:extLst>
          </p:cNvPr>
          <p:cNvSpPr>
            <a:spLocks noGrp="1"/>
          </p:cNvSpPr>
          <p:nvPr/>
        </p:nvSpPr>
        <p:spPr>
          <a:xfrm>
            <a:off x="552450" y="3619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86174"/>
                </a:solidFill>
              </a:defRPr>
            </a:pPr>
            <a:r>
              <a:rPr sz="1200" b="1">
                <a:solidFill>
                  <a:srgbClr val="586174"/>
                </a:solidFill>
              </a:rPr>
              <a:t>CREO VCS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5ACC9-348E-85E9-D95D-17444FEC85D6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953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endParaRPr sz="3150" b="1" dirty="0">
              <a:solidFill>
                <a:srgbClr val="0B122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26BF3A-8E64-92F7-E97F-283710C6544E}"/>
              </a:ext>
            </a:extLst>
          </p:cNvPr>
          <p:cNvSpPr>
            <a:spLocks noGrp="1"/>
          </p:cNvSpPr>
          <p:nvPr/>
        </p:nvSpPr>
        <p:spPr>
          <a:xfrm>
            <a:off x="552450" y="1619250"/>
            <a:ext cx="11087100" cy="9525"/>
          </a:xfrm>
          <a:prstGeom prst="rect">
            <a:avLst/>
          </a:prstGeom>
          <a:solidFill>
            <a:srgbClr val="CBD5E1"/>
          </a:solidFill>
          <a:ln w="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261168-53C4-2D8A-668A-FD74293B176C}"/>
              </a:ext>
            </a:extLst>
          </p:cNvPr>
          <p:cNvSpPr>
            <a:spLocks noGrp="1"/>
          </p:cNvSpPr>
          <p:nvPr/>
        </p:nvSpPr>
        <p:spPr>
          <a:xfrm>
            <a:off x="552450" y="63436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Creo VCS | Présentation Direction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DA94B8-042D-1118-488B-CFF3C1170E01}"/>
              </a:ext>
            </a:extLst>
          </p:cNvPr>
          <p:cNvSpPr>
            <a:spLocks noGrp="1"/>
          </p:cNvSpPr>
          <p:nvPr/>
        </p:nvSpPr>
        <p:spPr>
          <a:xfrm>
            <a:off x="11191875" y="63436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86174"/>
                </a:solidFill>
              </a:defRPr>
            </a:pPr>
            <a:r>
              <a:rPr sz="975" b="0">
                <a:solidFill>
                  <a:srgbClr val="586174"/>
                </a:solidFill>
              </a:rPr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808A95-45EF-6DD7-B34E-2BA791BEBBFE}"/>
              </a:ext>
            </a:extLst>
          </p:cNvPr>
          <p:cNvSpPr>
            <a:spLocks noGrp="1"/>
          </p:cNvSpPr>
          <p:nvPr/>
        </p:nvSpPr>
        <p:spPr>
          <a:xfrm>
            <a:off x="552450" y="647700"/>
            <a:ext cx="4333875" cy="819150"/>
          </a:xfrm>
          <a:prstGeom prst="rect">
            <a:avLst/>
          </a:prstGeom>
          <a:solidFill>
            <a:srgbClr val="F3F5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85BFD8A-EA35-A7FF-B3C3-46D009579A49}"/>
              </a:ext>
            </a:extLst>
          </p:cNvPr>
          <p:cNvSpPr>
            <a:spLocks noGrp="1"/>
          </p:cNvSpPr>
          <p:nvPr/>
        </p:nvSpPr>
        <p:spPr>
          <a:xfrm>
            <a:off x="762001" y="857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 dirty="0">
                <a:solidFill>
                  <a:srgbClr val="0B1220"/>
                </a:solidFill>
              </a:rPr>
              <a:t>BOM &amp; </a:t>
            </a:r>
            <a:r>
              <a:rPr sz="1650" b="1" dirty="0" err="1">
                <a:solidFill>
                  <a:srgbClr val="0B1220"/>
                </a:solidFill>
              </a:rPr>
              <a:t>fichiers</a:t>
            </a:r>
            <a:endParaRPr sz="1650" b="1" dirty="0">
              <a:solidFill>
                <a:srgbClr val="0B1220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2D554F-BA6E-E7F7-1CC7-BD46BC4411E4}"/>
              </a:ext>
            </a:extLst>
          </p:cNvPr>
          <p:cNvSpPr>
            <a:spLocks noGrp="1"/>
          </p:cNvSpPr>
          <p:nvPr/>
        </p:nvSpPr>
        <p:spPr>
          <a:xfrm>
            <a:off x="2219326" y="8953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86174"/>
                </a:solidFill>
              </a:defRPr>
            </a:pPr>
            <a:r>
              <a:rPr sz="1200" b="0" dirty="0">
                <a:solidFill>
                  <a:srgbClr val="586174"/>
                </a:solidFill>
              </a:rPr>
              <a:t>Structure </a:t>
            </a:r>
            <a:r>
              <a:rPr sz="1200" b="0" dirty="0" err="1">
                <a:solidFill>
                  <a:srgbClr val="586174"/>
                </a:solidFill>
              </a:rPr>
              <a:t>produit</a:t>
            </a:r>
            <a:r>
              <a:rPr sz="1200" b="0" dirty="0">
                <a:solidFill>
                  <a:srgbClr val="586174"/>
                </a:solidFill>
              </a:rPr>
              <a:t>, </a:t>
            </a:r>
            <a:r>
              <a:rPr sz="1200" b="0" dirty="0" err="1">
                <a:solidFill>
                  <a:srgbClr val="586174"/>
                </a:solidFill>
              </a:rPr>
              <a:t>pièces</a:t>
            </a:r>
            <a:r>
              <a:rPr sz="1200" b="0" dirty="0">
                <a:solidFill>
                  <a:srgbClr val="586174"/>
                </a:solidFill>
              </a:rPr>
              <a:t>, assemblages, dessins et </a:t>
            </a:r>
            <a:r>
              <a:rPr sz="1200" b="0" dirty="0" err="1">
                <a:solidFill>
                  <a:srgbClr val="586174"/>
                </a:solidFill>
              </a:rPr>
              <a:t>fichiers</a:t>
            </a:r>
            <a:r>
              <a:rPr sz="1200" b="0" dirty="0">
                <a:solidFill>
                  <a:srgbClr val="586174"/>
                </a:solidFill>
              </a:rPr>
              <a:t> </a:t>
            </a:r>
            <a:r>
              <a:rPr sz="1200" b="0" dirty="0" err="1">
                <a:solidFill>
                  <a:srgbClr val="586174"/>
                </a:solidFill>
              </a:rPr>
              <a:t>associés</a:t>
            </a:r>
            <a:r>
              <a:rPr sz="1200" b="0" dirty="0">
                <a:solidFill>
                  <a:srgbClr val="586174"/>
                </a:solidFill>
              </a:rPr>
              <a:t>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B224747-AC63-031D-C899-67010A558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6" y="1838448"/>
            <a:ext cx="3048000" cy="164293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5476527-1FB2-1E5F-029A-9221EE8C5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0" y="1838449"/>
            <a:ext cx="3048000" cy="165027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4AA49AD-95C8-614C-BB4B-970896F12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7369" y="1781302"/>
            <a:ext cx="3408232" cy="183984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0C7E720-E409-8CF8-A559-0186A21F0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3654790"/>
            <a:ext cx="3019425" cy="162305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5C82F998-6241-2021-D3A6-10601FCEB6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1450" y="3698395"/>
            <a:ext cx="3019425" cy="163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292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1117</Words>
  <Application>Microsoft Office PowerPoint</Application>
  <DocSecurity>0</DocSecurity>
  <PresentationFormat>Grand écran</PresentationFormat>
  <Paragraphs>215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Aziz MABROUK</cp:lastModifiedBy>
  <cp:revision>3</cp:revision>
  <dcterms:created xsi:type="dcterms:W3CDTF">2026-06-28T14:02:53Z</dcterms:created>
  <dcterms:modified xsi:type="dcterms:W3CDTF">2026-07-02T18:53:43Z</dcterms:modified>
</cp:coreProperties>
</file>